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ah Jones" userId="38e82463ac8fd362" providerId="LiveId" clId="{C028E51E-A131-45AE-B76A-B127F06969BE}"/>
    <pc:docChg chg="undo custSel modSld">
      <pc:chgData name="Isiah Jones" userId="38e82463ac8fd362" providerId="LiveId" clId="{C028E51E-A131-45AE-B76A-B127F06969BE}" dt="2026-04-14T04:30:28.084" v="17" actId="20577"/>
      <pc:docMkLst>
        <pc:docMk/>
      </pc:docMkLst>
      <pc:sldChg chg="modSp mod">
        <pc:chgData name="Isiah Jones" userId="38e82463ac8fd362" providerId="LiveId" clId="{C028E51E-A131-45AE-B76A-B127F06969BE}" dt="2026-04-14T04:30:28.084" v="17" actId="20577"/>
        <pc:sldMkLst>
          <pc:docMk/>
          <pc:sldMk cId="3149877723" sldId="256"/>
        </pc:sldMkLst>
        <pc:spChg chg="mod">
          <ac:chgData name="Isiah Jones" userId="38e82463ac8fd362" providerId="LiveId" clId="{C028E51E-A131-45AE-B76A-B127F06969BE}" dt="2026-04-14T04:30:28.084" v="17" actId="20577"/>
          <ac:spMkLst>
            <pc:docMk/>
            <pc:sldMk cId="3149877723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970542A-05F9-4E55-B061-B5E2A08DC72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5AA2165-9FFF-4033-91A3-471BA1C39BBA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acadets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ICS Security Manager as a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Isiah Jones</a:t>
            </a:r>
          </a:p>
          <a:p>
            <a:pPr algn="ctr"/>
            <a:r>
              <a:rPr lang="en-US" dirty="0"/>
              <a:t>MPS, CISSP, GICSP, C|CISO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November 2017</a:t>
            </a:r>
          </a:p>
        </p:txBody>
      </p:sp>
    </p:spTree>
    <p:extLst>
      <p:ext uri="{BB962C8B-B14F-4D97-AF65-F5344CB8AC3E}">
        <p14:creationId xmlns:p14="http://schemas.microsoft.com/office/powerpoint/2010/main" val="3149877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9765-232F-41A7-BE8B-6085398E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D8BC-1F28-4772-9E25-B936D3727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 &amp; Background</a:t>
            </a:r>
          </a:p>
          <a:p>
            <a:r>
              <a:rPr lang="en-US" dirty="0"/>
              <a:t>What is ICS Security Manager as a Service?</a:t>
            </a:r>
          </a:p>
          <a:p>
            <a:r>
              <a:rPr lang="en-US" dirty="0"/>
              <a:t>Why is it needed?</a:t>
            </a:r>
          </a:p>
          <a:p>
            <a:r>
              <a:rPr lang="en-US" dirty="0"/>
              <a:t>Who can it benefit?</a:t>
            </a:r>
          </a:p>
          <a:p>
            <a:r>
              <a:rPr lang="en-US" dirty="0"/>
              <a:t>What tasks would be completed?</a:t>
            </a:r>
          </a:p>
        </p:txBody>
      </p:sp>
    </p:spTree>
    <p:extLst>
      <p:ext uri="{BB962C8B-B14F-4D97-AF65-F5344CB8AC3E}">
        <p14:creationId xmlns:p14="http://schemas.microsoft.com/office/powerpoint/2010/main" val="2547756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am not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Administrator</a:t>
            </a:r>
          </a:p>
          <a:p>
            <a:r>
              <a:rPr lang="en-US" dirty="0"/>
              <a:t>System Administrator</a:t>
            </a:r>
          </a:p>
          <a:p>
            <a:r>
              <a:rPr lang="en-US" dirty="0"/>
              <a:t>Programmer</a:t>
            </a:r>
          </a:p>
          <a:p>
            <a:r>
              <a:rPr lang="en-US" dirty="0"/>
              <a:t>Electrical, Mechanical, Chemical or Civil Engineer</a:t>
            </a:r>
          </a:p>
          <a:p>
            <a:r>
              <a:rPr lang="en-US" dirty="0"/>
              <a:t>DBA</a:t>
            </a:r>
          </a:p>
          <a:p>
            <a:r>
              <a:rPr lang="en-US" dirty="0"/>
              <a:t>Policy, Legal, Auditor, Regulator</a:t>
            </a:r>
          </a:p>
        </p:txBody>
      </p:sp>
    </p:spTree>
    <p:extLst>
      <p:ext uri="{BB962C8B-B14F-4D97-AF65-F5344CB8AC3E}">
        <p14:creationId xmlns:p14="http://schemas.microsoft.com/office/powerpoint/2010/main" val="83701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Experiences Highlights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Analyst &amp; Engineer (ICS/OT, security, systems and operations critical infrastructure focused)</a:t>
            </a:r>
          </a:p>
          <a:p>
            <a:r>
              <a:rPr lang="en-US" dirty="0"/>
              <a:t>Penn State alum</a:t>
            </a:r>
          </a:p>
          <a:p>
            <a:r>
              <a:rPr lang="en-US" dirty="0"/>
              <a:t>Former US Naval Sea Cadet Chief (</a:t>
            </a:r>
            <a:r>
              <a:rPr lang="en-US" dirty="0">
                <a:hlinkClick r:id="rId2"/>
              </a:rPr>
              <a:t>www.seacadets.org</a:t>
            </a:r>
            <a:r>
              <a:rPr lang="en-US" dirty="0"/>
              <a:t>)</a:t>
            </a:r>
          </a:p>
          <a:p>
            <a:r>
              <a:rPr lang="en-US" dirty="0"/>
              <a:t>Former Penn State NROTC midshipman</a:t>
            </a:r>
          </a:p>
          <a:p>
            <a:r>
              <a:rPr lang="en-US" dirty="0"/>
              <a:t>Former have not and latch key kid</a:t>
            </a:r>
          </a:p>
          <a:p>
            <a:r>
              <a:rPr lang="en-US" dirty="0"/>
              <a:t>Former Navy civil service fed employee – IAO, HBSS, ERP SAP, L6S Greenbelt, DPAS (Systems Analyst &amp; INFOSEC)</a:t>
            </a:r>
          </a:p>
          <a:p>
            <a:r>
              <a:rPr lang="en-US" dirty="0"/>
              <a:t>Former FERC civil service fed – Energy Infrastructure National Security best practices focus not NERC CIP regulation and ICS/OT SME Champion</a:t>
            </a:r>
          </a:p>
          <a:p>
            <a:r>
              <a:rPr lang="en-US" dirty="0"/>
              <a:t>Former INFOSEC contractor (FHFA &amp; USPTO)</a:t>
            </a:r>
          </a:p>
          <a:p>
            <a:r>
              <a:rPr lang="en-US" dirty="0"/>
              <a:t>Former ICS cybersecurity Contractor &amp; Consultant (USMC, USN, Siemens </a:t>
            </a:r>
            <a:r>
              <a:rPr lang="en-US" dirty="0" err="1"/>
              <a:t>etc</a:t>
            </a:r>
            <a:r>
              <a:rPr lang="en-US" dirty="0"/>
              <a:t>) – Assessments, ISSE and intermediate validator </a:t>
            </a:r>
          </a:p>
        </p:txBody>
      </p:sp>
    </p:spTree>
    <p:extLst>
      <p:ext uri="{BB962C8B-B14F-4D97-AF65-F5344CB8AC3E}">
        <p14:creationId xmlns:p14="http://schemas.microsoft.com/office/powerpoint/2010/main" val="235215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Bachelor of Science in Information Sciences and Technology from Penn State University</a:t>
            </a:r>
          </a:p>
          <a:p>
            <a:r>
              <a:rPr lang="en-US" dirty="0"/>
              <a:t>Masters of Professional Studies in Homeland Security – Information Security and Forensics from Penn State University</a:t>
            </a:r>
          </a:p>
          <a:p>
            <a:r>
              <a:rPr lang="en-US" dirty="0"/>
              <a:t>Security+, CISSP, GICSP and C|CISO certifications</a:t>
            </a:r>
          </a:p>
          <a:p>
            <a:r>
              <a:rPr lang="en-US" dirty="0"/>
              <a:t>ISA 62443 standards committee voluntary member</a:t>
            </a:r>
          </a:p>
          <a:p>
            <a:r>
              <a:rPr lang="en-US" dirty="0"/>
              <a:t>ISA member</a:t>
            </a:r>
          </a:p>
        </p:txBody>
      </p:sp>
    </p:spTree>
    <p:extLst>
      <p:ext uri="{BB962C8B-B14F-4D97-AF65-F5344CB8AC3E}">
        <p14:creationId xmlns:p14="http://schemas.microsoft.com/office/powerpoint/2010/main" val="84797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68BD-C942-4740-A5C3-9D1F9CB5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ICS Security Manager as a Service?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0CFDA-D2B6-4C19-9C0E-447589AD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ICS Security Manager spin off of CISO as a Service</a:t>
            </a:r>
          </a:p>
          <a:p>
            <a:r>
              <a:rPr lang="en-US" dirty="0"/>
              <a:t>Part-time ICS focused Security Manager for asset owners and operators</a:t>
            </a:r>
          </a:p>
          <a:p>
            <a:r>
              <a:rPr lang="en-US" dirty="0"/>
              <a:t>Point of contact for helping IT understand OT operations and needs</a:t>
            </a:r>
          </a:p>
          <a:p>
            <a:r>
              <a:rPr lang="en-US" dirty="0"/>
              <a:t>Augmented staff member for OT operations to handle ICS security staffing needs</a:t>
            </a:r>
          </a:p>
          <a:p>
            <a:r>
              <a:rPr lang="en-US" dirty="0"/>
              <a:t>Builds and maintains ICS security program, policies, procedures, capabilities</a:t>
            </a:r>
          </a:p>
        </p:txBody>
      </p:sp>
    </p:spTree>
    <p:extLst>
      <p:ext uri="{BB962C8B-B14F-4D97-AF65-F5344CB8AC3E}">
        <p14:creationId xmlns:p14="http://schemas.microsoft.com/office/powerpoint/2010/main" val="125625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D877-D633-478B-9350-477D91DB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ICS Security Manager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DB6F-F515-4403-BDD8-88C83068F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OT needs ICS security focused and dedicated resource</a:t>
            </a:r>
          </a:p>
          <a:p>
            <a:r>
              <a:rPr lang="en-US" dirty="0"/>
              <a:t>Organizations lack resources for full-time ICS security staff</a:t>
            </a:r>
          </a:p>
          <a:p>
            <a:r>
              <a:rPr lang="en-US" dirty="0"/>
              <a:t>IT does not focus exclusively on ICS security</a:t>
            </a:r>
          </a:p>
          <a:p>
            <a:r>
              <a:rPr lang="en-US" dirty="0"/>
              <a:t>OT cannot focus exclusively on security of their operations and assets</a:t>
            </a:r>
          </a:p>
          <a:p>
            <a:r>
              <a:rPr lang="en-US" dirty="0"/>
              <a:t>Some environments are best served by need to know, least privilege and segregation of duties, roles, access and infrastructure</a:t>
            </a:r>
          </a:p>
          <a:p>
            <a:r>
              <a:rPr lang="en-US" dirty="0"/>
              <a:t>Connection to the dedicated ICS security focused community of practitioners </a:t>
            </a:r>
          </a:p>
          <a:p>
            <a:r>
              <a:rPr lang="en-US" dirty="0"/>
              <a:t>Access to a skilled resource with experiences across several organizations and infrastructures </a:t>
            </a:r>
          </a:p>
          <a:p>
            <a:r>
              <a:rPr lang="en-US" dirty="0"/>
              <a:t>Authoritative role and voice for OT asset owners and operators</a:t>
            </a:r>
          </a:p>
          <a:p>
            <a:r>
              <a:rPr lang="en-US" dirty="0"/>
              <a:t>Operations Security </a:t>
            </a:r>
            <a:r>
              <a:rPr lang="en-US" dirty="0" err="1"/>
              <a:t>Liason</a:t>
            </a:r>
            <a:r>
              <a:rPr lang="en-US" dirty="0"/>
              <a:t> to CISO, CIO, CSO, COO and Board</a:t>
            </a:r>
          </a:p>
        </p:txBody>
      </p:sp>
    </p:spTree>
    <p:extLst>
      <p:ext uri="{BB962C8B-B14F-4D97-AF65-F5344CB8AC3E}">
        <p14:creationId xmlns:p14="http://schemas.microsoft.com/office/powerpoint/2010/main" val="380036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1290-4706-4404-BF5D-01AC4960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can benefit?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0B441-ED7A-4D36-8A63-FC7AB0830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 Coops</a:t>
            </a:r>
          </a:p>
          <a:p>
            <a:r>
              <a:rPr lang="en-US" dirty="0"/>
              <a:t>Municipalities</a:t>
            </a:r>
          </a:p>
          <a:p>
            <a:r>
              <a:rPr lang="en-US" dirty="0"/>
              <a:t>Hydro </a:t>
            </a:r>
          </a:p>
          <a:p>
            <a:r>
              <a:rPr lang="en-US" dirty="0"/>
              <a:t>Water and Wastewater</a:t>
            </a:r>
          </a:p>
          <a:p>
            <a:r>
              <a:rPr lang="en-US" dirty="0"/>
              <a:t>Pipelines</a:t>
            </a:r>
          </a:p>
          <a:p>
            <a:r>
              <a:rPr lang="en-US" dirty="0"/>
              <a:t>Small and mid-size asset owners and operators</a:t>
            </a:r>
          </a:p>
          <a:p>
            <a:r>
              <a:rPr lang="en-US" dirty="0"/>
              <a:t>Large asset owners and operators with no single authoritative role for ICS security</a:t>
            </a:r>
          </a:p>
        </p:txBody>
      </p:sp>
    </p:spTree>
    <p:extLst>
      <p:ext uri="{BB962C8B-B14F-4D97-AF65-F5344CB8AC3E}">
        <p14:creationId xmlns:p14="http://schemas.microsoft.com/office/powerpoint/2010/main" val="319246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4F0D-251B-4E0D-B6E1-E4A05FA5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&amp; Duties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E7F8-4E82-489F-9CD3-1EED253E4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Build and Maintain ICS focused Security Program, Policies and Procedures</a:t>
            </a:r>
          </a:p>
          <a:p>
            <a:r>
              <a:rPr lang="en-US" dirty="0"/>
              <a:t>Coordinate and execute annual ICS focused assessments</a:t>
            </a:r>
          </a:p>
          <a:p>
            <a:r>
              <a:rPr lang="en-US" dirty="0"/>
              <a:t>Coordinate and execute annual ICS focused penetration tests</a:t>
            </a:r>
          </a:p>
          <a:p>
            <a:r>
              <a:rPr lang="en-US" dirty="0"/>
              <a:t>Lead, support and execute implementations to mitigate discovered risks and vulnerabilities for ICS assets and operations</a:t>
            </a:r>
          </a:p>
          <a:p>
            <a:r>
              <a:rPr lang="en-US" dirty="0"/>
              <a:t>Integrate, create and enforce ICS security requirements, standards, best practices and functionality into all projects, contracts and agreements on behalf of asset owners and operators</a:t>
            </a:r>
          </a:p>
          <a:p>
            <a:r>
              <a:rPr lang="en-US" dirty="0"/>
              <a:t>Build ICS system security plans, configuration management plans, inventory list, incident response plans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Test, evaluate, authorize, certify and facilitate products and services used by and for ICS assets and operations on behalf of owners and operators</a:t>
            </a:r>
          </a:p>
          <a:p>
            <a:r>
              <a:rPr lang="en-US" dirty="0"/>
              <a:t>Enable ICS focused security training and awareness for ICS operators and supporting stakeholders (physical security, HR, finance, procurement, IT, vendors, integrators, EPCs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9277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</TotalTime>
  <Words>601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Constantia</vt:lpstr>
      <vt:lpstr>Wingdings 2</vt:lpstr>
      <vt:lpstr>Flow</vt:lpstr>
      <vt:lpstr>ICS Security Manager as a Service</vt:lpstr>
      <vt:lpstr>Outline</vt:lpstr>
      <vt:lpstr>What I am not </vt:lpstr>
      <vt:lpstr>Experiences Highlights  </vt:lpstr>
      <vt:lpstr>Creds </vt:lpstr>
      <vt:lpstr>What is ICS Security Manager as a Service? </vt:lpstr>
      <vt:lpstr>Why is ICS Security Manager Needed?</vt:lpstr>
      <vt:lpstr>Who can benefit? </vt:lpstr>
      <vt:lpstr>Tasks &amp; Duties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Isiah Jones</cp:lastModifiedBy>
  <cp:revision>12</cp:revision>
  <dcterms:created xsi:type="dcterms:W3CDTF">2013-11-10T23:46:07Z</dcterms:created>
  <dcterms:modified xsi:type="dcterms:W3CDTF">2026-04-14T04:30:35Z</dcterms:modified>
</cp:coreProperties>
</file>