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Setting: A GMP bioreactor and cleanroom suite. Operators run a batch from HMIs on a process DCS; an MES pulls recipes and writes electronic batch records; a serialization/packaging line runs downstream; a bioreactor SIS protects against over-pressure and runaway reactions.
Key OT/IoT assets: Bioreactor / fermenter PLCs, Process DCS + operator HMIs, MES &amp; OT historian, Serialization / packaging line PLC, Bioreactor SIS (over-pressure trip), CIP (clean-in-place) skid, Engineering workstation (EWS)
People &amp; roles: Batch/process operator, Manufacturing / automation engineer, QA (batch release), Contract validation engineer, Maintenance technician
Processes: Batch execution &amp; recipe download, Change control / MOC, Data historian &amp; batch review, Cleaning validation (CIP), SIS proof testing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Setting: A remote wellpad with a drilling rig doghouse. A field RTU / flow computer telemeters production over a cellular/satellite link to a central SCADA; the wellhead has an emergency shutdown (ESD) valve; H2S gas detection protects crews.
Key OT/IoT assets: Field RTU / flow computer, Wellhead ESD valve, Drilling rig control (doghouse), Cellular / satellite SCADA modem, H2S gas detection, Custody metering, RTU enclosure / cabinet
People &amp; roles: Pumper / lease operator, Drilling crew (driller, roughnecks), SCADA / automation tech, Third-party service contractor, HSE / safety officer
Processes: Production telemetry &amp; polling, Well control &amp; ESD, Custody transfer measurement, Contractor turnaround work, Gas-detection alarm response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Setting: A crude pipeline pump station and tank farm. SCADA drives mainline pump VFDs; custody metering measures transfers; storage tanks are protected by an overfill-prevention SIS and high-high level alarms; a leak-detection system watches the line.
Key OT/IoT assets: Pipeline SCADA + HMI server, Mainline pump VFD PLCs, Custody metering flow computers, Tank overfill SIS + high-high level, Leak-detection system, SCADA historian
People &amp; roles: Pipeline controller (control center), Station operator, Measurement technician, SCADA engineer, Vendor remote support
Processes: Pipeline batching &amp; pump control, Tank gauging &amp; overfill protection, Custody transfer measurement, Leak detection &amp; response, Remote vendor support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Setting: A refinery process unit run from a central control room. A DCS (BPCS) drives the process; an independent SIS provides trips for furnaces, columns and compressors; operators work consoles under alarm management; vendors provide remote support.
Key OT/IoT assets: DCS / BPCS + operator consoles, Independent SIS + logic solver, SIS engineering workstation, Furnace / heater trips, Flare &amp; relief system, Alarm management system
People &amp; roles: Board operator, Outside operator, Process control engineer, Functional safety engineer, DCS/SIS vendor (remote)
Processes: Process control (BPCS), Safety instrumented functions (SIS), Alarm management &amp; rationalization, Management of change, Vendor remote support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Setting: An offshore production platform. An Integrated Control &amp; Safety System (ICSS) runs process, Fire &amp; Gas (F&amp;G) and Emergency Shutdown (ESD). A helideck supports crew change and refuelling; a VSAT link connects to shore; wireless IIoT sensors monitor equipment.
Key OT/IoT assets: Integrated Control &amp; Safety System (ICSS), Fire &amp; Gas (F&amp;G) system, ESD valves &amp; logic, Helideck control &amp; refuelling PLC, VSAT / satellite link, Wireless IIoT sensors
People &amp; roles: Offshore Installation Manager (OIM), Control-room operator, Instrument/automation tech, Turnaround contractor, Helicopter crew / HLO
Processes: Production control (ICSS), Fire &amp; Gas detection, Emergency shutdown, Helideck ops &amp; refuelling, Crew change / turnaround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Setting: A high-voltage transmission substation. Protective relays (IEDs) trip breakers over an IEC 61850 station bus (GOOSE/SV); a substation RTU/gateway telemeters to the SCADA/EMS; a control house holds relay panels and the station HMI.
Key OT/IoT assets: Protective relays / IEDs, Substation RTU / gateway, IEC 61850 station bus (GOOSE/SV), Station HMI, Power transformers &amp; breakers, Managed station switches
People &amp; roles: System operator (control center), Protection &amp; control engineer, Substation technician, Relay test contractor, Physical security / access
Processes: Protection &amp; tripping, Remote SCADA/EMS telemetry, Relay setting changes, Firmware maintenance, Physical access control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Setting: Smart meters on homes and buildings report over an RF mesh to collectors and an AMI head-end; distribution automation (reclosers, capacitor banks) is controlled in the field; home-area-network (HAN) gateways connect to meters.
Key OT/IoT assets: Residential/commercial smart meters, RF mesh + data collectors, AMI head-end system, Distribution automation (reclosers), Home-area network (HAN) gateway, Meter disconnect switch
People &amp; roles: Distribution operator, AMI / metering engineer, Field service technician, Utility customer, Meter data management (MDM) team
Processes: Meter reading &amp; billing, Remote connect / disconnect, Firmware management (fleet), Distribution automation control, Tamper / outage detection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Setting: A natural-gas gathering system runs through farmland: a farm-tap RTU and roadside pipeline metering station telemeter over radio/cellular; a compressor station moves gas with ESD and high-pressure trips; an odorizer injects mercaptan for public safety.
Key OT/IoT assets: Farm-tap RTU / cabinet, Pipeline metering PLC, Compressor station PLC + VFD, ESD &amp; high-pressure trip, Odorizer / injection system, SCADA telemetry radio
People &amp; roles: Gas controller (control center), Measurement / metering tech, Compressor-station operator, Landowner / farmer (adjacent), Vendor remote support
Processes: Gas gathering &amp; telemetry, Custody metering, Compression &amp; pressure control, Odorization (public safety), Remote vendor support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Setting: An LNG terminal liquefies or regasifies gas and loads/unloads LNG carriers at a jetty. A DCS runs process; an independent SIS and Fire &amp; Gas protect against release; loading arms and a ship-shore link (SSL) manage transfer; mooring/berth monitoring uses IIoT.
Key OT/IoT assets: LNG process DCS, Independent SIS + HIPPS, Fire &amp; Gas (F&amp;G) system, Jetty loading arms + ESD, Ship-shore link (SSL), Berth / mooring IIoT monitoring
People &amp; roles: Terminal control operator, Jetty / marine loading master, Functional safety engineer, LNG carrier crew, DCS/SIS vendor (remote)
Processes: Liquefaction / regasification, Ship loading / unloading (custody), Emergency shutdown (ESD/ESD-2), Fire &amp; Gas detection, Mooring &amp; berth monitoring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Setting: A vessel's bridge runs an Integrated Bridge System (IBS) with ECDIS and radar fed by GNSS/GPS; the engine room runs an Integrated Automation System (IAS) / Power Management System and propulsion PLCs; VSAT and crew Wi-Fi connect the ship.
Key OT/IoT assets: ECDIS + radar (IBS), GNSS / GPS receiver, Engine / propulsion PLC (PMS), Integrated Automation System (IAS), VSAT + crew Wi-Fi, Serial-to-IP OT gateways
People &amp; roles: Master / OOW (officer of the watch), Chief engineer, Electro-technical officer (ETO), Crew (personal devices), OEM remote support
Processes: Navigation (ECDIS/IBS), Propulsion &amp; power management, Chart &amp; software updates, Ballast / steering control, OEM remote support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Setting: A container terminal moves boxes with ship-to-shore (STS) and yard (RTG/RMG) cranes driven by PLCs; a Terminal Operating System (TOS) coordinates moves; reefer racks, gate OCR and radio remote-control of cranes add IoT/OT exposure.
Key OT/IoT assets: STS ship-to-shore crane PLC/drives, RTG/RMG yard crane PLC, Terminal Operating System (TOS), Reefer monitoring / gate OCR (IoT), Crane radio remote control, Anti-collision / load-moment interlocks
People &amp; roles: Terminal operations controller, Crane operator / driver, Crane maintenance technician, OEM crane support (remote), Gate / yard staff
Processes: Container handling (crane control), Terminal operations (TOS), Crane maintenance &amp; programming, Reefer / gate monitoring, Radio remote crane control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Setting: A data center mechanical plant keeps the white space within temperature. Water-cooled chillers, cooling towers and pumps feed CRAH/CRAC units and containerized/modular cooling; a Building Management System (BMS/BAS) on BACnet/Modbus drives setpoints and sequencing. Loss of cooling is both an availability and an equipment-safety event.
Key OT/IoT assets: Water-cooled chiller plant, CRAH / CRAC units, Modular / containerized cooling units, Cooling tower &amp; condenser pumps, BMS/BAS DDC controllers (BACnet/Modbus), BMS server / operator workstation
People &amp; roles: Critical-environment / facilities operator, BMS / controls engineer, Mechanical technician, Chiller OEM (remote support), Data center manager
Processes: Cooling control &amp; setpoints, Chiller sequencing &amp; staging, BMS alarming &amp; trending, Vendor remote maintenance, Change control (MOC)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Setting: A commercial building / campus central plant. A Building Automation System (BAS) on BACnet/LonWorks drives air handlers and VAV boxes; hot-water or steam boilers are protected by a burner management system (flame safeguard) and low-water cutoff — a combustion safety function (per NFPA 85 / ASME CSD-1) that a cyber event must not defeat.
Key OT/IoT assets: BAS supervisory controllers + DDC, Air handling units &amp; VAV boxes, Hot-water / steam boilers, Burner management / flame safeguard, Building controls server, BACnet / LonWorks / Modbus field bus
People &amp; roles: Building engineer / operator, Controls / BAS integrator, Boiler technician, OEM burner vendor, Facilities manager
Processes: HVAC scheduling &amp; setpoints, Boiler sequencing &amp; combustion safety, BAS trending &amp; alarms, Integrator remote support, Change control (MOC)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Setting: A building fire &amp; life safety installation. A fire alarm control panel (FACP) with addressable detectors drives alarm and evacuation; suppression release (pre-action / clean-agent) and smoke-control HVAC are safety functions; mass notification / voice evacuation warns occupants. These follow NFPA 72 / life-safety codes — the flags below are the cyber overlay on top of that governance, not a replacement for it.
Key OT/IoT assets: Fire alarm control panel (FACP), Suppression release panel (pre-action / clean-agent), Smoke-control (HVAC interface), Mass notification / voice evacuation, IP fire-alarm gateway, Emergency generator / ATS interface
People &amp; roles: Fire safety director, Life-safety / fire-alarm technician, BAS integrator, Authority Having Jurisdiction (AHJ), Security operations
Processes: Detection &amp; alarm, Suppression release logic, Smoke-control sequencing, Mass notification, Testing / inspection &amp; MOC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Setting: A physical security system for a building or critical site. A Physical Access Control System (PACS) with IP door controllers and card readers governs badge access and electric locks; CCTV cameras feed a VMS/NVR; intrusion detection, turnstiles/mantraps and elevator access round it out. PACS is the cyber-physical gateway to substations, data-center white space and control rooms.
Key OT/IoT assets: PACS door controllers, Card / badge readers (Wiegand / OSDP), CCTV cameras &amp; VMS / NVR, Intrusion detection panel, Turnstiles / mantrap &amp; elevator control, Access control server + directory
People &amp; roles: Physical security manager, Security operations center (SOC) operator, PACS / CCTV integrator, Facilities, Employees &amp; visitors
Processes: Badge access &amp; authorization, Video surveillance &amp; retention, Alarm monitoring &amp; response, Visitor management, Credential lifecycle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E5C7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8C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 AWARENESS MONTH   ·   ICS / OT / IoT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86384" y="16459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Cyber-Physical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786384" y="245059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“Spot the Issue” Catalog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companion to the corporate-office awareness scene — for operational technology.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26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scenarios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flagged findings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62443-3-3  ·  IEC 62443-4-2  ·  Secure PLC Coding Top 20  ·  ISA-TR84.00.09 v3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394960"/>
            <a:ext cx="1764792" cy="384048"/>
          </a:xfrm>
          <a:prstGeom prst="roundRect">
            <a:avLst>
              <a:gd name="adj" fmla="val 50000"/>
            </a:avLst>
          </a:prstGeom>
          <a:solidFill>
            <a:srgbClr val="1632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752344" y="5394960"/>
            <a:ext cx="1362456" cy="384048"/>
          </a:xfrm>
          <a:prstGeom prst="roundRect">
            <a:avLst>
              <a:gd name="adj" fmla="val 50000"/>
            </a:avLst>
          </a:prstGeom>
          <a:solidFill>
            <a:srgbClr val="1632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279392" y="53949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1632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705856" y="5394960"/>
            <a:ext cx="1563624" cy="384048"/>
          </a:xfrm>
          <a:prstGeom prst="roundRect">
            <a:avLst>
              <a:gd name="adj" fmla="val 50000"/>
            </a:avLst>
          </a:prstGeom>
          <a:solidFill>
            <a:srgbClr val="1632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Gas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34072" y="53949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1632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860536" y="5394960"/>
            <a:ext cx="2670048" cy="384048"/>
          </a:xfrm>
          <a:prstGeom prst="roundRect">
            <a:avLst>
              <a:gd name="adj" fmla="val 50000"/>
            </a:avLst>
          </a:prstGeom>
          <a:solidFill>
            <a:srgbClr val="1632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&amp; Facilities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126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Cyber, safety &amp; good-practice findings — each flagged to the standard, requirement ID and name.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catalog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0E5C7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417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2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markers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7373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scene hides 8 numbered findings. Learners call out what looks wrong at each numbered marker.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0E5C7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7889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2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answer key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1089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slide that follows each scene lists every finding — what to look for, its type, and the standards it maps to.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0E5C7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4160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2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as a quiz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4805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the key one item at a time, or hold it back and let the group find all eight first.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TYPE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73736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173736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CE7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cyber-physical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875520" y="1737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423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 FLAGGED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7889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277063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62443-3-3 (system security requirements)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2461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6C4C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322783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62443-4-2 (component security requirements)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7033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B453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68503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PLC Coding Practices – Top 20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1605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E8F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84.09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414223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ISA-TR84.00.09 v3 (cybersecurity &amp; the functional-safety lifecycle)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89320"/>
            <a:ext cx="11064240" cy="685800"/>
          </a:xfrm>
          <a:prstGeom prst="rect">
            <a:avLst/>
          </a:prstGeom>
          <a:solidFill>
            <a:srgbClr val="F3F6F8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standard IDs. 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62443-3-3 (SR), 62443-4-2 (CR/EDR/HDR/NDR) and the PLC Top 20 (#) are cited by exact requirement/item ID and name. ISA-TR84.00.09 v3 items are flagged by security-lifecycle element and the IEC 61511 phase (Analysis / Realization / Operation); confirm exact clause numbers against your controlled copy of v3.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956816" cy="36576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 / Biotech Manufacturing Plant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Bioreactor cleanroom suite — DCS/MES, serialization line, batch records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4572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good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4572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E7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safety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29016" y="4572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cyber</a:t>
            </a:r>
            <a:endParaRPr lang="en-US" sz="1100" dirty="0"/>
          </a:p>
        </p:txBody>
      </p:sp>
      <p:pic>
        <p:nvPicPr>
          <p:cNvPr id="8" name="Image 0" descr="png/phar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1783080"/>
            <a:ext cx="8229600" cy="4937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79676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Numbered markers = planted findings. Answer key on the next slide.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956816" cy="36576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 / Biotech Manufacturing Plant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what to look for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1.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Shared HMI login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Human user identification and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1.1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Human user identification and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Operation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SIS access control and independence from the BPCS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2.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Recipe editable at HMI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Authorization enforcement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3.4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Software and information integrity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#8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Validate HMI input variables at the PLC level, not only at the HMI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Laptop + USB on DCS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control for portable and mobile devices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2.13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of physical diagnostic and test interfaces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Malicious code protection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SIS trip bypassed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Operation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Bypass / override management for the SIS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Track operating modes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Define a safe process state in case of a PLC restart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45352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5.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Flat MES/OT network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45352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6.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Default vendor password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Authenticator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1.7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Strength of password-based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1.7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Strength of password-based authentication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45352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7.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Historian export to USB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4.1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Information confidentiality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General purpose person-to-person communication restrictions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control for portable and mobile devices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45352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Signed serialization code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Good practice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cryptographic and/or checksum integrity checks for PLC code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3.4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Software and information integrity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B453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— Upstream Wellpad &amp; Drilling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wellpad — RTU/flow computer, wellhead ESD, drilling rig, cellular SCADA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4572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good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4572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E7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safety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29016" y="4572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cyber</a:t>
            </a:r>
            <a:endParaRPr lang="en-US" sz="1100" dirty="0"/>
          </a:p>
        </p:txBody>
      </p:sp>
      <p:pic>
        <p:nvPicPr>
          <p:cNvPr id="8" name="Image 0" descr="png/upst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1783080"/>
            <a:ext cx="8229600" cy="4937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79676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Numbered markers = planted findings. Answer key on the next slide.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B453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— Upstream Wellpad &amp; Drilling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what to look for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1.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RTU exposed to internet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Access via untrusted networks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3.1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Communication integrity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2.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ESD in manual bypass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Operation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Bypass / override management for the SIS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Track operating modes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Define a safe process state in case of a PLC restart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Plaintext Modbus/SNMP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Communication integrity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4.3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of cryptography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Disable unused / unneeded communication ports and protocols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Contractor Wi-Fi laptop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control for portable and mobile devices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Wireless access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NDR 1.6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Wireless access management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45352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5.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Shared creds on sticky note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Authenticator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1.7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Strength of password-based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Human user identification and authentication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45352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6.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Open RTU cabinet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EDR 3.11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Physical tamper resistance and detection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2.13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of physical diagnostic and test interfaces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45352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7.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H2S detector disabled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#20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Trap false negatives and false positives for critical alerts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#7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Validate and alert for paired inputs / outputs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6.2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Continuous monitoring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45352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Signed RTU firmware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Good practice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7.8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Control system component inventory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EDR 3.10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Support for updates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EDR 3.14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Integrity of the boot process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B453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— Midstream Pump Station &amp; Tank Farm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pump station — SCADA, mainline pumps, custody metering, tank overfill SIS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4572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good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4572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E7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safety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29016" y="4572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cyber</a:t>
            </a:r>
            <a:endParaRPr lang="en-US" sz="1100" dirty="0"/>
          </a:p>
        </p:txBody>
      </p:sp>
      <p:pic>
        <p:nvPicPr>
          <p:cNvPr id="8" name="Image 0" descr="png/midstream_o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1783080"/>
            <a:ext cx="8229600" cy="4937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79676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Numbered markers = planted findings. Answer key on the next slide.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B453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— Midstream Pump Station &amp; Tank Farm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what to look for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1.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Remote access open to internet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Access via untrusted networks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Remote session termination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2.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Tank overfill trip inhibited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Operation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Bypass / override management for the SIS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#7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Validate and alert for paired inputs / outputs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Validate inputs based on physical plausibility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Writable custody metering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Communication integrity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Input validation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#14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Restrict third-party data interfaces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Flat pump network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45352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5.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Weak SCADA credentials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Human user identification and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1.7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Strength of password-based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Authenticator management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45352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6.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Leak detection muted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Track operating modes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#20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Trap false negatives and false positives for critical alerts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6.2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Continuous monitoring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45352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7.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Unpatched SCADA server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Malicious code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7.6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and security configuration settings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HDR 3.2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Malicious code protection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45352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DMZ + one-way historian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Good practice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6.1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Audit log accessibility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B453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— Downstream Refinery &amp; Control Room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Refinery process unit — DCS control room, BPCS/SIS separation, furnace &amp; flare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4572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good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4572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E7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safety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29016" y="4572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cyber</a:t>
            </a:r>
            <a:endParaRPr lang="en-US" sz="1100" dirty="0"/>
          </a:p>
        </p:txBody>
      </p:sp>
      <p:pic>
        <p:nvPicPr>
          <p:cNvPr id="8" name="Image 0" descr="png/downst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1783080"/>
            <a:ext cx="8229600" cy="4937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79676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Numbered markers = planted findings. Answer key on the next slide.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B453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— Downstream Refinery &amp; Control Room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what to look for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1.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BPCS &amp; SIS not separated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Realization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SIS zones and conduits (SIS as a separate zone)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5.4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Application partitioning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2.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SIS key-switch in PROGRAM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Track operating modes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Realization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Security verification &amp; validation of the SIF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2.13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of physical diagnostic and test interfaces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Furnace trip forced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Operation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Bypass / override management for the SIS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Define a safe process state in case of a PLC restart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Authorization enforcement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Unlocked shared console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Session lock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Human user identification and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2.5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Session lock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45352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5.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Always-on vendor VPN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Access via untrusted networks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Remote session termination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NDR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45352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6.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Alarm flood / shelved alarms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#20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Trap false negatives and false positives for critical alerts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6.2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Continuous monitoring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Operation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Management of change (MOC) for SIS security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45352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7.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USB IT-&gt;DCS transfer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control for portable and mobile devices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Malicious code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3.4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Software and information integrity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45352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Independent, locked SIS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Good practice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Operation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Management of change (MOC) for SIS security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7.6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and security configuration settings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EDR 3.11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Physical tamper resistance and detection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B453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— Offshore Platform &amp; Helicopter Transfer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production — ICSS, Fire &amp; Gas, ESD, helideck, VSAT, crew change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4572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good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4572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E7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safety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29016" y="4572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cyber</a:t>
            </a:r>
            <a:endParaRPr lang="en-US" sz="1100" dirty="0"/>
          </a:p>
        </p:txBody>
      </p:sp>
      <p:pic>
        <p:nvPicPr>
          <p:cNvPr id="8" name="Image 0" descr="png/offsh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1783080"/>
            <a:ext cx="8229600" cy="4937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79676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Numbered markers = planted findings. Answer key on the next slide.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B453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— Offshore Platform &amp; Helicopter Transfer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what to look for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1.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VSAT flat to shore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Access via untrusted networks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NDR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2.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F&amp;G inhibited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#7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Validate and alert for paired inputs / outputs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#20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Trap false negatives and false positives for critical alerts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Operation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Bypass / override management for the SIS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Helideck PLC on process net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5.4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Application partitioning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Disable unused / unneeded communication ports and protocols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Crew-change laptop/USB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control for portable and mobile devices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Malicious code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2.13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of physical diagnostic and test interfaces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45352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5.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ESD override no confirm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Operation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Management of change (MOC) for SIS security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Track operating modes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Authorization enforcement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45352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6.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Shared OIM account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Human user identification and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Account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Authenticator management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45352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7.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Open wireless IIoT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Wireless access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Wireless use control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4.3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of cryptography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45352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Defined safe state + recovery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Good practice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Define a safe process state in case of a PLC restart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7.4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Control system recovery and reconstitution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7.5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Emergency power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591056" cy="365760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— Transmission Substation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 substation — RTU, protective relays (IEC 61850), GOOSE, control house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4572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good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4572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E7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safety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29016" y="4572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cyber</a:t>
            </a:r>
            <a:endParaRPr lang="en-US" sz="1100" dirty="0"/>
          </a:p>
        </p:txBody>
      </p:sp>
      <p:pic>
        <p:nvPicPr>
          <p:cNvPr id="8" name="Image 0" descr="png/subs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1783080"/>
            <a:ext cx="8229600" cy="4937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79676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Numbered markers = planted findings. Answer key on the next slide.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591056" cy="365760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— Transmission Substation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what to look for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1.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Unauthenticated IEC 61850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Software process and device identification and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Communication integrity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1.2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Software process and device identification and authentication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2.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Dial-in default password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Access via untrusted networks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Authenticator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1.7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Strength of password-based authentication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Laptop bridges IT/OT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Relay change, no approval/audit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Authorization enforcement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2.8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Auditable events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2.12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Non-repudiation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45352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5.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Control house unsecured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EDR 3.11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Physical tamper resistance and detection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2.13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of physical diagnostic and test interfaces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Authorization enforcement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45352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6.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GOOSE not monitored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6.2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Continuous monitoring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Communication integrity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45352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7.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Unpatched IED firmware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EDR 3.10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Support for updates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EDR 3.14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Integrity of the boot process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7.8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Control system component inventory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45352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Segmented bus + SIEM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Good practice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NDR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6.1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Audit log accessibility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591056" cy="365760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— Smart Meters &amp; Distribution Automation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on homes &amp; buildings — smart meters, RF mesh, head-end, reclosers, HAN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4572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good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4572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E7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safety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29016" y="4572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cyber</a:t>
            </a:r>
            <a:endParaRPr lang="en-US" sz="1100" dirty="0"/>
          </a:p>
        </p:txBody>
      </p:sp>
      <p:pic>
        <p:nvPicPr>
          <p:cNvPr id="8" name="Image 0" descr="png/am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1783080"/>
            <a:ext cx="8229600" cy="4937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79676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Numbered markers = planted findings. Answer key on the next slide.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591056" cy="365760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— Smart Meters &amp; Distribution Automation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what to look for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1.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Broken meter seal / local port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EDR 3.11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Physical tamper resistance and detection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2.13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of physical diagnostic and test interfaces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3.4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Software and information integrity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2.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Default RF-mesh keys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Wireless access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4.3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of cryptography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NDR 1.6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Wireless access management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Unsigned firmware push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3.4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Software and information integrity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EDR 3.14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Integrity of the boot process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EDR 3.10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Support for updates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Disconnect not authz-controlled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Authorization enforcement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Software process and device identification and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Input validation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45352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5.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Plaintext DNP3 recloser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Communication integrity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4.3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of cryptography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Disable unused / unneeded communication ports and protocols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45352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6.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HAN bridged to meter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General purpose person-to-person communication restrictions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4.1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Information confidentiality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45352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7.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No fleet inventory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7.8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Control system component inventory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6.2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Continuous monitoring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EDR 3.10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Support for updates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45352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Signed FW + per-device keys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Good practice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EDR 3.12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Provisioning product supplier roots of trust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EDR 3.13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Provisioning asset owner roots of trust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Software process and device identification and authentication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810512" cy="365760"/>
          </a:xfrm>
          <a:prstGeom prst="roundRect">
            <a:avLst>
              <a:gd name="adj" fmla="val 50000"/>
            </a:avLst>
          </a:prstGeom>
          <a:solidFill>
            <a:srgbClr val="8A6D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GAS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Gas — Farm Tap, Pipeline Station &amp; Compression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gathering — farm-tap RTU, metering, compressor ESD, odorizer, telemetry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4572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good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4572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E7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safety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29016" y="4572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cyber</a:t>
            </a:r>
            <a:endParaRPr lang="en-US" sz="1100" dirty="0"/>
          </a:p>
        </p:txBody>
      </p:sp>
      <p:pic>
        <p:nvPicPr>
          <p:cNvPr id="8" name="Image 0" descr="png/gas_midst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1783080"/>
            <a:ext cx="8229600" cy="4937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79676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Numbered markers = planted findings. Answer key on the next slide.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810512" cy="365760"/>
          </a:xfrm>
          <a:prstGeom prst="roundRect">
            <a:avLst>
              <a:gd name="adj" fmla="val 50000"/>
            </a:avLst>
          </a:prstGeom>
          <a:solidFill>
            <a:srgbClr val="8A6D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GAS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Gas — Farm Tap, Pipeline Station &amp; Compression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what to look for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1.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Open farm-tap RTU + radio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EDR 3.11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Physical tamper resistance and detection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Wireless access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4.3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of cryptography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2.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Compressor ESD bypassed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Operation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Bypass / override management for the SIS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Define a safe process state in case of a PLC restart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Track operating modes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Writable metering PLC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Communication integrity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Input validation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#8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Validate HMI input variables at the PLC level, not only at the HMI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Flat station network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45352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5.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Always-on vendor cellular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Access via untrusted networks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Authenticator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Remote session termination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45352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6.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Odorizer alarm inhibited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#20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Trap false negatives and false positives for critical alerts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Validate inputs based on physical plausibility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6.2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Continuous monitoring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45352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7.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Unauthenticated polling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Software process and device identification and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Communication integrity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1.2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Software process and device identification and authentication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45352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Hardened field RTUs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Good practice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Disable unused / unneeded communication ports and protocols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7.6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and security configuration settings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7.7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Least functionality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810512" cy="365760"/>
          </a:xfrm>
          <a:prstGeom prst="roundRect">
            <a:avLst>
              <a:gd name="adj" fmla="val 50000"/>
            </a:avLst>
          </a:prstGeom>
          <a:solidFill>
            <a:srgbClr val="8A6D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GAS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Gas — LNG Terminal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LNG liquefaction/regas — jetty loading arms, ship-shore link, SIS, F&amp;G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4572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good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4572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E7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safety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29016" y="4572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cyber</a:t>
            </a:r>
            <a:endParaRPr lang="en-US" sz="1100" dirty="0"/>
          </a:p>
        </p:txBody>
      </p:sp>
      <p:pic>
        <p:nvPicPr>
          <p:cNvPr id="8" name="Image 0" descr="png/l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1783080"/>
            <a:ext cx="8229600" cy="4937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79676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Numbered markers = planted findings. Answer key on the next slide.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810512" cy="365760"/>
          </a:xfrm>
          <a:prstGeom prst="roundRect">
            <a:avLst>
              <a:gd name="adj" fmla="val 50000"/>
            </a:avLst>
          </a:prstGeom>
          <a:solidFill>
            <a:srgbClr val="8A6D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GAS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Gas — LNG Terminal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what to look for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1.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Jetty ESD not independent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Realization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SIS zones and conduits (SIS as a separate zone)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5.4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Application partitioning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2.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F&amp;G forced from commissioning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Operation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Management of change (MOC) for SIS security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#7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Validate and alert for paired inputs / outputs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Define a safe process state in case of a PLC restart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Unauthenticated ship-shore link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Communication integrity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Software process and device identification and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4.3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of cryptography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DCS laptop shared w/ email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control for portable and mobile devices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Malicious code protection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45352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5.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Open mooring IIoT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Wireless access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4.3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of cryptography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NDR 1.6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Wireless access management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45352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6.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Always-on refrigeration VPN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Access via untrusted networks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Remote session termination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6.2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Continuous monitoring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45352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7.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Shared console, no lock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Human user identification and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Session lock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Authenticator management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45352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Independent HIPPS/SIS, MOC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Good practice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Operation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Management of change (MOC) for SIS security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7.6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and security configuration settings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EDR 3.11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Physical tamper resistance and detection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591056" cy="365760"/>
          </a:xfrm>
          <a:prstGeom prst="roundRect">
            <a:avLst>
              <a:gd name="adj" fmla="val 50000"/>
            </a:avLst>
          </a:prstGeom>
          <a:solidFill>
            <a:srgbClr val="1F6E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 — Vessel Bridge &amp; Engine Room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OT — ECDIS, IBS, GNSS, engine/propulsion PLC (PMS), VSAT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4572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good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4572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E7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safety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29016" y="4572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cyber</a:t>
            </a:r>
            <a:endParaRPr lang="en-US" sz="1100" dirty="0"/>
          </a:p>
        </p:txBody>
      </p:sp>
      <p:pic>
        <p:nvPicPr>
          <p:cNvPr id="8" name="Image 0" descr="png/vess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1783080"/>
            <a:ext cx="8229600" cy="4937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79676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Numbered markers = planted findings. Answer key on the next slide.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591056" cy="365760"/>
          </a:xfrm>
          <a:prstGeom prst="roundRect">
            <a:avLst>
              <a:gd name="adj" fmla="val 50000"/>
            </a:avLst>
          </a:prstGeom>
          <a:solidFill>
            <a:srgbClr val="1F6E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 — Vessel Bridge &amp; Engine Room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what to look for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1.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ECDIS USB updates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control for portable and mobile devices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Malicious code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2.13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of physical diagnostic and test interfaces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2.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No GNSS spoof detection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Input validation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Validate inputs based on physical plausibility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6.2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Continuous monitoring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Crew Wi-Fi bridged to nav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NDR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Always-on OEM satellite access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Access via untrusted networks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Remote session termination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6.2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Continuous monitoring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45352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5.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Shared bridge login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Human user identification and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Account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Authenticator management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45352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6.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Steering safe-state undefined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Define a safe process state in case of a PLC restart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Track operating modes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#20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Trap false negatives and false positives for critical alerts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45352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7.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Default gateway creds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Authenticator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1.7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Strength of password-based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Disable unused / unneeded communication ports and protocols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45352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Segmented per IACS E26/E27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Good practice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7.8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Control system component inventory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EDR 3.14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Integrity of the boot process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591056" cy="365760"/>
          </a:xfrm>
          <a:prstGeom prst="roundRect">
            <a:avLst>
              <a:gd name="adj" fmla="val 50000"/>
            </a:avLst>
          </a:prstGeom>
          <a:solidFill>
            <a:srgbClr val="1F6E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 — Port &amp; Container Terminal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terminal — STS/RTG cranes, TOS, reefers, gate OCR, radio remote control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4572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good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4572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E7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safety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29016" y="4572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cyber</a:t>
            </a:r>
            <a:endParaRPr lang="en-US" sz="1100" dirty="0"/>
          </a:p>
        </p:txBody>
      </p:sp>
      <p:pic>
        <p:nvPicPr>
          <p:cNvPr id="8" name="Image 0" descr="png/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1783080"/>
            <a:ext cx="8229600" cy="4937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79676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Numbered markers = planted findings. Answer key on the next slide.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591056" cy="365760"/>
          </a:xfrm>
          <a:prstGeom prst="roundRect">
            <a:avLst>
              <a:gd name="adj" fmla="val 50000"/>
            </a:avLst>
          </a:prstGeom>
          <a:solidFill>
            <a:srgbClr val="1F6E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 — Port &amp; Container Terminal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what to look for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1.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Crane drive default creds/Wi-Fi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Wireless access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Access via untrusted networks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Authenticator management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2.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Anti-collision bypassed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Operation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Bypass / override management for the SIS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#7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Validate and alert for paired inputs / outputs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Define a safe process state in case of a PLC restart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TOS flat to crane OT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Internet-exposed gate/reefer IoT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Authenticator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Access via untrusted networks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45352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5.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USB crane programming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control for portable and mobile devices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3.4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Software and information integrity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2.13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of physical diagnostic and test interfaces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45352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6.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Unauthenticated radio control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Wireless access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Wireless use control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4.3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of cryptography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45352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7.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No PLC change logging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2.8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Auditable events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6.2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Continuous monitoring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2.12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Non-repudiation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45352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Segmented crane zone + baselines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Good practice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NDR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2.8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Auditable events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cryptographic and/or checksum integrity checks for PLC code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615184" cy="365760"/>
          </a:xfrm>
          <a:prstGeom prst="roundRect">
            <a:avLst>
              <a:gd name="adj" fmla="val 50000"/>
            </a:avLst>
          </a:prstGeom>
          <a:solidFill>
            <a:srgbClr val="5B5F9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&amp; FACILITIES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 — Cooling &amp; Mechanical Plant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cooling — chillers, CRAH/CRAC, modular cooling, BMS/BACnet, cold-aisle containment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4572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good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4572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E7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safety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29016" y="4572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cyber</a:t>
            </a:r>
            <a:endParaRPr lang="en-US" sz="1100" dirty="0"/>
          </a:p>
        </p:txBody>
      </p:sp>
      <p:pic>
        <p:nvPicPr>
          <p:cNvPr id="8" name="Image 0" descr="png/datacenter_coo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1783080"/>
            <a:ext cx="8229600" cy="4937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79676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Numbered markers = planted findings. Answer key on the next slide.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615184" cy="365760"/>
          </a:xfrm>
          <a:prstGeom prst="roundRect">
            <a:avLst>
              <a:gd name="adj" fmla="val 50000"/>
            </a:avLst>
          </a:prstGeom>
          <a:solidFill>
            <a:srgbClr val="5B5F9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&amp; FACILITIES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 — Cooling &amp; Mechanical Plant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what to look for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1.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Flat BMS/BACnet network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2.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Unauthenticated BACnet writes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Communication integrity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Software process and device identification and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Input validation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Always-on chiller OEM access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Access via untrusted networks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Authenticator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Remote session termination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Chiller trip bypassed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Operation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Bypass / override management for the safety function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Track operating modes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Validate inputs based on physical plausibility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45352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5.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Shared BMS login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Human user identification and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Account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Authenticator management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45352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6.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Default modular-cooling creds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Authenticator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1.7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Strength of password-based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7.7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Least functionality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45352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7.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Failover logic not validated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#7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Validate and alert for paired inputs / outputs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Instrument for plausibility checks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7.1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Denial of service protection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45352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Segmented, monitored BMS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Good practice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6.2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Continuous monitoring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7.6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and security configuration settings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615184" cy="365760"/>
          </a:xfrm>
          <a:prstGeom prst="roundRect">
            <a:avLst>
              <a:gd name="adj" fmla="val 50000"/>
            </a:avLst>
          </a:prstGeom>
          <a:solidFill>
            <a:srgbClr val="5B5F9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&amp; FACILITIES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 — Automation &amp; Boiler Plant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plant — BAS/BACnet, AHUs, hot-water/steam boilers, burner management (flame safeguard)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4572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good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4572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E7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safety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29016" y="4572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cyber</a:t>
            </a:r>
            <a:endParaRPr lang="en-US" sz="1100" dirty="0"/>
          </a:p>
        </p:txBody>
      </p:sp>
      <p:pic>
        <p:nvPicPr>
          <p:cNvPr id="8" name="Image 0" descr="png/bas_boi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1783080"/>
            <a:ext cx="8229600" cy="4937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79676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Numbered markers = planted findings. Answer key on the next slide.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615184" cy="365760"/>
          </a:xfrm>
          <a:prstGeom prst="roundRect">
            <a:avLst>
              <a:gd name="adj" fmla="val 50000"/>
            </a:avLst>
          </a:prstGeom>
          <a:solidFill>
            <a:srgbClr val="5B5F9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&amp; FACILITIES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 — Automation &amp; Boiler Plant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what to look for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1.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BAS exposed to internet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Access via untrusted networks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Authenticator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2.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Burner safeguard forced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Operation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Bypass / override management for the safety function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Define a safe process state in case of a PLC restart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Track operating modes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Integrator laptop across sites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control for portable and mobile devices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Malicious code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2.13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of physical diagnostic and test interfaces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Spoofable BACnet commands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Software process and device identification and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Communication integrity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Input validation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45352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5.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Combustion alarms inhibited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#20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Trap false negatives and false positives for critical alerts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#7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Validate and alert for paired inputs / outputs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6.2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Continuous monitoring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45352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6.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Flat tenant/IT network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45352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7.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No controller backup/inventory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7.3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Control system backup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7.8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Control system component inventory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7.4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Control system recovery and reconstitution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45352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Independent burner management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Good practice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Operation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Management of change (MOC) for the safety function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Authorization enforcement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EDR 3.11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Physical tamper resistance and detection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615184" cy="365760"/>
          </a:xfrm>
          <a:prstGeom prst="roundRect">
            <a:avLst>
              <a:gd name="adj" fmla="val 50000"/>
            </a:avLst>
          </a:prstGeom>
          <a:solidFill>
            <a:srgbClr val="5B5F9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&amp; FACILITIES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 — Fire &amp; Life Safety Systems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FACP, suppression release, smoke control, mass notification — increasingly IP-networked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4572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good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4572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E7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safety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29016" y="4572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cyber</a:t>
            </a:r>
            <a:endParaRPr lang="en-US" sz="1100" dirty="0"/>
          </a:p>
        </p:txBody>
      </p:sp>
      <p:pic>
        <p:nvPicPr>
          <p:cNvPr id="8" name="Image 0" descr="png/fire_life_safe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1783080"/>
            <a:ext cx="8229600" cy="4937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79676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Numbered markers = planted findings. Answer key on the next slide.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615184" cy="365760"/>
          </a:xfrm>
          <a:prstGeom prst="roundRect">
            <a:avLst>
              <a:gd name="adj" fmla="val 50000"/>
            </a:avLst>
          </a:prstGeom>
          <a:solidFill>
            <a:srgbClr val="5B5F9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&amp; FACILITIES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 — Fire &amp; Life Safety Systems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what to look for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1.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FACP on IT network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NDR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2.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Suppression release bypassed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Operation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Bypass / override management for the safety function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Track operating modes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Authorization enforcement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Smoke-control spoofable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Communication integrity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Input validation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#7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Validate and alert for paired inputs / outputs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Plaintext fire gateway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Authenticator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Communication integrity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4.3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of cryptography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45352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5.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Mass-notification reachable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Software process and device identification and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Authorization enforcement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45352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6.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Zones left disabled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#20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Trap false negatives and false positives for critical alerts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Track operating modes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6.2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Continuous monitoring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45352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7.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No change control on panel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2.8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Auditable events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2.12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Non-repudiation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Operation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Management of change (MOC) for the safety function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45352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Segmented life-safety net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Good practice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84.09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Operation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Management of change (MOC) for the safety function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6.2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Continuous monitoring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615184" cy="365760"/>
          </a:xfrm>
          <a:prstGeom prst="roundRect">
            <a:avLst>
              <a:gd name="adj" fmla="val 50000"/>
            </a:avLst>
          </a:prstGeom>
          <a:solidFill>
            <a:srgbClr val="5B5F9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&amp; FACILITIES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 — Physical Access Control &amp; Security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 — IP door controllers, card readers (Wiegand/OSDP), CCTV/VMS, intrusion, elevator/turnstiles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4572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good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4572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E7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safety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29016" y="4572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cyber</a:t>
            </a:r>
            <a:endParaRPr lang="en-US" sz="1100" dirty="0"/>
          </a:p>
        </p:txBody>
      </p:sp>
      <p:pic>
        <p:nvPicPr>
          <p:cNvPr id="8" name="Image 0" descr="png/pacs_secu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1783080"/>
            <a:ext cx="8229600" cy="4937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79676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Numbered markers = planted findings. Answer key on the next slide.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615184" cy="365760"/>
          </a:xfrm>
          <a:prstGeom prst="roundRect">
            <a:avLst>
              <a:gd name="adj" fmla="val 50000"/>
            </a:avLst>
          </a:prstGeom>
          <a:solidFill>
            <a:srgbClr val="5B5F9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&amp; FACILITIES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 — Physical Access Control &amp; Security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what to look for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1.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Cleartext Wiegand readers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Communication integrity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4.3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of cryptography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Software process and device identification and authentication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2.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Default-cred IP cameras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Authenticator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Access via untrusted networks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Flat door-controller net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5.2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Zone boundary protection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5.1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Network segmentation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Shared PACS admin, no audit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Human user identification and authentication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2.8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Auditable events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2.12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Non-repudiation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45352" y="1316736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399032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5.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Unlock override enabled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Safety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#2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Track operating modes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PLC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#15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Define a safe process state in case of a PLC restart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Authorization enforcement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45352" y="2708910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2791206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6.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Unpatched, tamperable devices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EDR 3.11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Physical tamper resistance and detection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EDR 3.10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Support for updates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CR 2.13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Use of physical diagnostic and test interfaces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45352" y="4101084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4183380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7.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Always-on VMS/PACS access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Cyber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1.13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Access via untrusted networks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1.5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Authenticator management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2.6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Remote session termination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45352" y="5493258"/>
            <a:ext cx="5486400" cy="1273302"/>
          </a:xfrm>
          <a:prstGeom prst="roundRect">
            <a:avLst>
              <a:gd name="adj" fmla="val 4309"/>
            </a:avLst>
          </a:prstGeom>
          <a:solidFill>
            <a:srgbClr val="F1F5F8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5575554"/>
            <a:ext cx="521208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8.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OSDP-secure, segmented, logged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   Good practice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3.1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Communication integrity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3-3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SR 2.8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Auditable events
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4-2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EDR 3.14  </a:t>
            </a:r>
            <a:pPr indent="0" marL="0">
              <a:lnSpc>
                <a:spcPct val="102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Integrity of the boot process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E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0E5C7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from this catalog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base of ICS/OT/IoT cyber-physical scenarios. Add sectors, swap in your own assets and photoreal scenes, and extend the standards flags.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83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8C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3383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8C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findings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3383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8C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mapped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3383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8C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types and standard mappings are teaching aids, not a compliance assessment. Confirm ISA-TR84.00.09 v3 clause numbers against your controlled copy.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2026-10-17T23:57:54Z</dcterms:created>
  <dcterms:modified xsi:type="dcterms:W3CDTF">2026-10-17T23:57:54Z</dcterms:modified>
</cp:coreProperties>
</file>