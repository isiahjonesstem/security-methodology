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Setting: A GMP bioreactor and cleanroom suite. Operators run a batch from HMIs on a process DCS; an MES pulls recipes and writes electronic batch records; a serialization/packaging line runs downstream; a bioreactor SIS protects against over-pressure and runaway reactions.
Key OT/IoT assets: Bioreactor / fermenter PLCs, Process DCS + operator HMIs, MES &amp; OT historian, Serialization / packaging line PLC, Bioreactor SIS (over-pressure trip), CIP (clean-in-place) skid, Engineering workstation (EWS)
People &amp; roles: Batch/process operator, Manufacturing / automation engineer, QA (batch release), Contract validation engineer, Maintenance technician
Processes: Batch execution &amp; recipe download, Change control / MOC, Data historian &amp; batch review, Cleaning validation (CIP), SIS proof testing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Setting: A remote wellpad with a drilling rig doghouse. A field RTU / flow computer telemeters production over a cellular/satellite link to a central SCADA; the wellhead has an emergency shutdown (ESD) valve; H2S gas detection protects crews.
Key OT/IoT assets: Field RTU / flow computer, Wellhead ESD valve, Drilling rig control (doghouse), Cellular / satellite SCADA modem, H2S gas detection, Custody metering, RTU enclosure / cabinet
People &amp; roles: Pumper / lease operator, Drilling crew (driller, roughnecks), SCADA / automation tech, Third-party service contractor, HSE / safety officer
Processes: Production telemetry &amp; polling, Well control &amp; ESD, Custody transfer measurement, Contractor turnaround work, Gas-detection alarm response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Setting: A crude pipeline pump station and tank farm. SCADA drives mainline pump VFDs; custody metering measures transfers; storage tanks are protected by an overfill-prevention SIS and high-high level alarms; a leak-detection system watches the line.
Key OT/IoT assets: Pipeline SCADA + HMI server, Mainline pump VFD PLCs, Custody metering flow computers, Tank overfill SIS + high-high level, Leak-detection system, SCADA historian
People &amp; roles: Pipeline controller (control center), Station operator, Measurement technician, SCADA engineer, Vendor remote support
Processes: Pipeline batching &amp; pump control, Tank gauging &amp; overfill protection, Custody transfer measurement, Leak detection &amp; response, Remote vendor support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Setting: A refinery process unit run from a central control room. A DCS (BPCS) drives the process; an independent SIS provides trips for furnaces, columns and compressors; operators work consoles under alarm management; vendors provide remote support.
Key OT/IoT assets: DCS / BPCS + operator consoles, Independent SIS + logic solver, SIS engineering workstation, Furnace / heater trips, Flare &amp; relief system, Alarm management system
People &amp; roles: Board operator, Outside operator, Process control engineer, Functional safety engineer, DCS/SIS vendor (remote)
Processes: Process control (BPCS), Safety instrumented functions (SIS), Alarm management &amp; rationalization, Management of change, Vendor remote support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Setting: An offshore production platform. An Integrated Control &amp; Safety System (ICSS) runs process, Fire &amp; Gas (F&amp;G) and Emergency Shutdown (ESD). A helideck supports crew change and refuelling; a VSAT link connects to shore; wireless IIoT sensors monitor equipment.
Key OT/IoT assets: Integrated Control &amp; Safety System (ICSS), Fire &amp; Gas (F&amp;G) system, ESD valves &amp; logic, Helideck control &amp; refuelling PLC, VSAT / satellite link, Wireless IIoT sensors
People &amp; roles: Offshore Installation Manager (OIM), Control-room operator, Instrument/automation tech, Turnaround contractor, Helicopter crew / HLO
Processes: Production control (ICSS), Fire &amp; Gas detection, Emergency shutdown, Helideck ops &amp; refuelling, Crew change / turnaround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Setting: A high-voltage transmission substation. Protective relays (IEDs) trip breakers over an IEC 61850 station bus (GOOSE/SV); a substation RTU/gateway telemeters to the SCADA/EMS; a control house holds relay panels and the station HMI.
Key OT/IoT assets: Protective relays / IEDs, Substation RTU / gateway, IEC 61850 station bus (GOOSE/SV), Station HMI, Power transformers &amp; breakers, Managed station switches
People &amp; roles: System operator (control center), Protection &amp; control engineer, Substation technician, Relay test contractor, Physical security / access
Processes: Protection &amp; tripping, Remote SCADA/EMS telemetry, Relay setting changes, Firmware maintenance, Physical access control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Setting: Smart meters on homes and buildings report over an RF mesh to collectors and an AMI head-end; distribution automation (reclosers, capacitor banks) is controlled in the field; home-area-network (HAN) gateways connect to meters.
Key OT/IoT assets: Residential/commercial smart meters, RF mesh + data collectors, AMI head-end system, Distribution automation (reclosers), Home-area network (HAN) gateway, Meter disconnect switch
People &amp; roles: Distribution operator, AMI / metering engineer, Field service technician, Utility customer, Meter data management (MDM) team
Processes: Meter reading &amp; billing, Remote connect / disconnect, Firmware management (fleet), Distribution automation control, Tamper / outage detection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Setting: A natural-gas gathering system runs through farmland: a farm-tap RTU and roadside pipeline metering station telemeter over radio/cellular; a compressor station moves gas with ESD and high-pressure trips; an odorizer injects mercaptan for public safety.
Key OT/IoT assets: Farm-tap RTU / cabinet, Pipeline metering PLC, Compressor station PLC + VFD, ESD &amp; high-pressure trip, Odorizer / injection system, SCADA telemetry radio
People &amp; roles: Gas controller (control center), Measurement / metering tech, Compressor-station operator, Landowner / farmer (adjacent), Vendor remote support
Processes: Gas gathering &amp; telemetry, Custody metering, Compression &amp; pressure control, Odorization (public safety), Remote vendor support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Setting: An LNG terminal liquefies or regasifies gas and loads/unloads LNG carriers at a jetty. A DCS runs process; an independent SIS and Fire &amp; Gas protect against release; loading arms and a ship-shore link (SSL) manage transfer; mooring/berth monitoring uses IIoT.
Key OT/IoT assets: LNG process DCS, Independent SIS + HIPPS, Fire &amp; Gas (F&amp;G) system, Jetty loading arms + ESD, Ship-shore link (SSL), Berth / mooring IIoT monitoring
People &amp; roles: Terminal control operator, Jetty / marine loading master, Functional safety engineer, LNG carrier crew, DCS/SIS vendor (remote)
Processes: Liquefaction / regasification, Ship loading / unloading (custody), Emergency shutdown (ESD/ESD-2), Fire &amp; Gas detection, Mooring &amp; berth monitoring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Setting: A vessel's bridge runs an Integrated Bridge System (IBS) with ECDIS and radar fed by GNSS/GPS; the engine room runs an Integrated Automation System (IAS) / Power Management System and propulsion PLCs; VSAT and crew Wi-Fi connect the ship.
Key OT/IoT assets: ECDIS + radar (IBS), GNSS / GPS receiver, Engine / propulsion PLC (PMS), Integrated Automation System (IAS), VSAT + crew Wi-Fi, Serial-to-IP OT gateways
People &amp; roles: Master / OOW (officer of the watch), Chief engineer, Electro-technical officer (ETO), Crew (personal devices), OEM remote support
Processes: Navigation (ECDIS/IBS), Propulsion &amp; power management, Chart &amp; software updates, Ballast / steering control, OEM remote support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Setting: A container terminal moves boxes with ship-to-shore (STS) and yard (RTG/RMG) cranes driven by PLCs; a Terminal Operating System (TOS) coordinates moves; reefer racks, gate OCR and radio remote-control of cranes add IoT/OT exposure.
Key OT/IoT assets: STS ship-to-shore crane PLC/drives, RTG/RMG yard crane PLC, Terminal Operating System (TOS), Reefer monitoring / gate OCR (IoT), Crane radio remote control, Anti-collision / load-moment interlocks
People &amp; roles: Terminal operations controller, Crane operator / driver, Crane maintenance technician, OEM crane support (remote), Gate / yard staff
Processes: Container handling (crane control), Terminal operations (TOS), Crane maintenance &amp; programming, Reefer / gate monitoring, Radio remote crane control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Setting: A data center mechanical plant keeps the white space within temperature. Water-cooled chillers, cooling towers and pumps feed CRAH/CRAC units and containerized/modular cooling; a Building Management System (BMS/BAS) on BACnet/Modbus drives setpoints and sequencing. Loss of cooling is both an availability and an equipment-safety event.
Key OT/IoT assets: Water-cooled chiller plant, CRAH / CRAC units, Modular / containerized cooling units, Cooling tower &amp; condenser pumps, BMS/BAS DDC controllers (BACnet/Modbus), BMS server / operator workstation
People &amp; roles: Critical-environment / facilities operator, BMS / controls engineer, Mechanical technician, Chiller OEM (remote support), Data center manager
Processes: Cooling control &amp; setpoints, Chiller sequencing &amp; staging, BMS alarming &amp; trending, Vendor remote maintenance, Change control (MOC)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Setting: A commercial building / campus central plant. A Building Automation System (BAS) on BACnet/LonWorks drives air handlers and VAV boxes; hot-water or steam boilers are protected by a burner management system (flame safeguard) and low-water cutoff — a combustion safety function (per NFPA 85 / ASME CSD-1) that a cyber event must not defeat.
Key OT/IoT assets: BAS supervisory controllers + DDC, Air handling units &amp; VAV boxes, Hot-water / steam boilers, Burner management / flame safeguard, Building controls server, BACnet / LonWorks / Modbus field bus
People &amp; roles: Building engineer / operator, Controls / BAS integrator, Boiler technician, OEM burner vendor, Facilities manager
Processes: HVAC scheduling &amp; setpoints, Boiler sequencing &amp; combustion safety, BAS trending &amp; alarms, Integrator remote support, Change control (MOC)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Setting: A building fire &amp; life safety installation. A fire alarm control panel (FACP) with addressable detectors drives alarm and evacuation; suppression release (pre-action / clean-agent) and smoke-control HVAC are safety functions; mass notification / voice evacuation warns occupants. These follow NFPA 72 / life-safety codes — the flags below are the cyber overlay on top of that governance, not a replacement for it.
Key OT/IoT assets: Fire alarm control panel (FACP), Suppression release panel (pre-action / clean-agent), Smoke-control (HVAC interface), Mass notification / voice evacuation, IP fire-alarm gateway, Emergency generator / ATS interface
People &amp; roles: Fire safety director, Life-safety / fire-alarm technician, BAS integrator, Authority Having Jurisdiction (AHJ), Security operations
Processes: Detection &amp; alarm, Suppression release logic, Smoke-control sequencing, Mass notification, Testing / inspection &amp; MOC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Setting: A physical security system for a building or critical site. A Physical Access Control System (PACS) with IP door controllers and card readers governs badge access and electric locks; CCTV cameras feed a VMS/NVR; intrusion detection, turnstiles/mantraps and elevator access round it out. PACS is the cyber-physical gateway to substations, data-center white space and control rooms.
Key OT/IoT assets: PACS door controllers, Card / badge readers (Wiegand / OSDP), CCTV cameras &amp; VMS / NVR, Intrusion detection panel, Turnstiles / mantrap &amp; elevator control, Access control server + directory
People &amp; roles: Physical security manager, Security operations center (SOC) operator, PACS / CCTV integrator, Facilities, Employees &amp; visitors
Processes: Badge access &amp; authorization, Video surveillance &amp; retention, Alarm monitoring &amp; response, Visitor management, Credential lifecycle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Setting: A municipal surface-water treatment plant: raw-water intake, coagulation and flocculation, filtration, then chlorine disinfection into the clearwell and high-service pumps. Operators run the plant from a SCADA HMI; PLCs drive dosing pumps, valves and filter backwash.</a:t>
            </a:r>
          </a:p>
          <a:p/>
          <a:p>
            <a:r>
              <a:t>Key OT/IoT assets: PLCs (Rockwell Allen-Bradley ControlLogix / MicroLogix, Schneider Modicon M580), SCADA servers &amp; HMIs (AVEVA InTouch / Inductive Automation Ignition), Sodium-hypochlorite dosing skid &amp; metering pumps, Chlorine &amp; turbidity analyzers (Hach CL17 / TU5), High-service pump VFDs, Cellular/radio telemetry to remote sites, Engineering workstation (Studio 5000 / EcoStruxure)</a:t>
            </a:r>
          </a:p>
          <a:p>
            <a:r>
              <a:t>People &amp; roles: Plant operator (shift), SCADA / automation technician, Maintenance &amp; instrument technician, Contract system integrator (remote), Lab / compliance staff</a:t>
            </a:r>
          </a:p>
          <a:p>
            <a:r>
              <a:t>Processes: Coagulant &amp; chlorine dosing control, Filter backwash sequencing, SCADA alarm &amp; setpoint management, Remote-site polling, Chemical inventory &amp; safety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Setting: An unstaffed sewage lift station: a wet well with duty/standby pumps, level sensors, and a small RTU/PLC in a roadside cabinet that reports to the utility SCADA over cellular. Overflow here spills raw sewage to the environment.</a:t>
            </a:r>
          </a:p>
          <a:p/>
          <a:p>
            <a:r>
              <a:t>Key OT/IoT assets: Station PLC / RTU (Unitronics Vision, Mission Communications RTU), Pump controller (Xylem Flygt MultiSmart), Wet-well level transducer &amp; float switches, Duty/standby pump contactors &amp; VFDs, Cellular router (Sierra Wireless AirLink / Digi), High-level overflow alarm, Local control panel (HOA switches)</a:t>
            </a:r>
          </a:p>
          <a:p>
            <a:r>
              <a:t>People &amp; roles: SCADA operator (central control room), Collections / maintenance crew, On-call technician, Contract integrator / pump vendor service</a:t>
            </a:r>
          </a:p>
          <a:p>
            <a:r>
              <a:t>Processes: Wet-well level &amp; pump sequencing, High-level overflow alarming, Remote polling &amp; dial-out alarms, Pump run-time / fault reporting, Confined-space &amp; site access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Setting: The facility side of a hospital: a building management system runs chillers, air handlers and isolation-room pressure, medical-gas alarm panels warn of oxygen/vacuum faults, and an emergency generator with an automatic transfer switch backs up life-safety loads.</a:t>
            </a:r>
          </a:p>
          <a:p/>
          <a:p>
            <a:r>
              <a:t>Key OT/IoT assets: BMS (Johnson Controls Metasys / Siemens Desigo CC / Tridium Niagara), BACnet / Modbus field controllers, Isolation-room pressure monitors (TSI), Medical-gas alarm panels (Amico / BeaconMedaes), Chillers &amp; air-handling units (Trane / York), Emergency generator &amp; ATS (Cummins / ASCO), BMS operator workstation</a:t>
            </a:r>
          </a:p>
          <a:p>
            <a:r>
              <a:t>People &amp; roles: Facilities / plant operations engineer, BMS integrator / OEM service (remote), Hospital IT / network team, Infection-control staff, On-call maintenance</a:t>
            </a:r>
          </a:p>
          <a:p>
            <a:r>
              <a:t>Processes: HVAC &amp; isolation-room pressure control, Medical-gas alarm monitoring, Emergency power transfer testing, BMS alarm &amp; setpoint management, Change control / MOC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Setting: An emergency department bay: networked patient monitors, infusion pumps and ventilators connect through a medical-device integration gateway to the EHR, over what should be a segmented biomedical network.</a:t>
            </a:r>
          </a:p>
          <a:p/>
          <a:p>
            <a:r>
              <a:t>Key OT/IoT assets: Patient monitors (Philips IntelliVue / GE CARESCAPE / Mindray), Infusion pumps (BD Alaris / Baxter / ICU Medical), Ventilators (Hamilton / Dräger), Device integration gateway (Philips Capsule), Central monitoring station, Biomedical VLAN switch &amp; Wi-Fi, Portable X-ray / PACS-DICOM endpoint</a:t>
            </a:r>
          </a:p>
          <a:p>
            <a:r>
              <a:t>People &amp; roles: ER nurse / clinician, Biomedical engineering (HTM), Clinical IT / integration team, Device vendor field service (on-site &amp; remote), Registration / transport staff</a:t>
            </a:r>
          </a:p>
          <a:p>
            <a:r>
              <a:t>Processes: Vitals capture &amp; alarm routing, Infusion dose programming, Device-to-EHR integration, Firmware / recall management, Device onboarding &amp; inventory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Setting: An airfield lighting vault and tower: an Airfield Lighting Control &amp; Monitoring System (ALCMS) drives constant-current regulators (CCRs) that power runway, taxiway and approach lighting series circuits, commanded from the tower.</a:t>
            </a:r>
          </a:p>
          <a:p/>
          <a:p>
            <a:r>
              <a:t>Key OT/IoT assets: ALCMS servers &amp; HMI (ADB SAFEGATE), Constant-current regulators (ADB SAFEGATE / Liberty Airport Systems), Vault PLCs &amp; remote I/O, Individual lamp control &amp; monitoring, Tower lighting control panel / touchscreen, Vault network switches &amp; fiber to tower, Engineering workstation</a:t>
            </a:r>
          </a:p>
          <a:p>
            <a:r>
              <a:t>People &amp; roles: Air traffic controller (tower), Airfield electrician, ALCMS vendor / integrator (remote support), Airport operations, Airport IT / network team</a:t>
            </a:r>
          </a:p>
          <a:p>
            <a:r>
              <a:t>Processes: Runway/taxiway lighting selection &amp; intensity, Stop-bar &amp; approach lighting control, Circuit fault monitoring, NOTAM / maintenance coordination, Change control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Setting: An airport baggage handling system: PLC-controlled conveyors and sorters route bags from check-in through security (EDS) screening to make-up carousels, coordinated by a sortation SCADA/warehouse-control layer.</a:t>
            </a:r>
          </a:p>
          <a:p/>
          <a:p>
            <a:r>
              <a:t>Key OT/IoT assets: BHS PLCs (Siemens S7-1500 / Rockwell ControlLogix), Sortation SCADA / controls (Vanderlande / BEUMER / Siemens Logistics), EDS screening (Smiths Detection CTX / Leidos), ATR barcode / RFID arrays &amp; diverters, Conveyor drives (SEW-Eurodrive / Siemens), MCP-room HMIs, BHS network switches</a:t>
            </a:r>
          </a:p>
          <a:p>
            <a:r>
              <a:t>People &amp; roles: BHS control-room operator, Airline / ground-handler baggage staff, TSA screening staff, BHS integrator (remote &amp; on-site), Maintenance technician</a:t>
            </a:r>
          </a:p>
          <a:p>
            <a:r>
              <a:t>Processes: Bag routing &amp; sortation logic, EDS screening result handshake, Jam / fault handling &amp; e-stops, Throughput monitoring, Change control / commissioning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Setting: A supermarket's refrigeration plant: a refrigeration rack controller manages compressors, display cases and walk-in coolers with scheduled defrost, monitored remotely by a maintenance contractor. Loss of control spoils food and can overheat equipment.</a:t>
            </a:r>
          </a:p>
          <a:p/>
          <a:p>
            <a:r>
              <a:t>Key OT/IoT assets: Rack supervisory controller (Copeland E2/E3 / Danfoss AK-SM 800), Case &amp; walk-in controllers (Carel MPXpro / Danfoss AK-CC), Display cases (Hussmann / Hillphoenix), Compressor rack &amp; condensers, Defrost heaters &amp; electronic expansion valves, Refrigerant leak detection, Remote monitoring gateway / contractor portal</a:t>
            </a:r>
          </a:p>
          <a:p>
            <a:r>
              <a:t>People &amp; roles: Store manager / facilities, Refrigeration service contractor (remote), Store associates, Energy-management provider, Corporate facilities / food-safety team</a:t>
            </a:r>
          </a:p>
          <a:p>
            <a:r>
              <a:t>Processes: Case temperature &amp; defrost control, Compressor staging, Remote monitoring &amp; alarms, Setpoint &amp; schedule management, Food-safety temperature logging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Setting: A grocery distribution center: an industrial ammonia refrigeration plant cools frozen and chilled storage, PLC-driven conveyors and sorters move pallets and totes, and a building automation system runs docks, HVAC and energy. Loss of control threatens cold chain, equipment and personnel.</a:t>
            </a:r>
          </a:p>
          <a:p/>
          <a:p>
            <a:r>
              <a:t>Key OT/IoT assets: Ammonia (NH3) refrigeration controls (Frick Quantum HD / Johnson Controls), NH3 leak detection &amp; ventilation, Conveyor / sortation (Honeywell Intelligrated / Dematic) on Allen-Bradley PLCs, Dock doors &amp; levelers (Rite-Hite / Blue Giant), BAS / energy management (Novar / Honeywell), Cold-chain IoT temperature sensors, WMS interface &amp; controls network switches</a:t>
            </a:r>
          </a:p>
          <a:p>
            <a:r>
              <a:t>People &amp; roles: DC refrigeration operator, Warehouse controls technician, Logistics / operations staff, Refrigeration &amp; conveyor integrators (remote), Ammonia PSM / safety coordinator</a:t>
            </a:r>
          </a:p>
          <a:p>
            <a:r>
              <a:t>Processes: Ammonia refrigeration &amp; defrost control, Conveyor/sortation routing, Cold-chain temperature logging, Dock scheduling &amp; door control, Ammonia safety (PSM) &amp; leak detection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E5C7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234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58C6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CYBER AWARENESS MONTH   ·   ICS / OT / IoT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786384" y="164592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Cyber-Physical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2450592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“Spot the Issue” Catalog</a:t>
            </a:r>
            <a:endParaRPr 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field companion to the corporate-office awareness scene — for operational technology.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5262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scenarios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184 flagged findings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62443-3-3  ·  IEC 62443-4-2  ·  Secure PLC Coding Top 20  ·  ISA-TR84.00.09 v3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394960"/>
            <a:ext cx="1764792" cy="384048"/>
          </a:xfrm>
          <a:prstGeom prst="roundRect">
            <a:avLst>
              <a:gd name="adj" fmla="val 50000"/>
            </a:avLst>
          </a:prstGeom>
          <a:solidFill>
            <a:srgbClr val="1632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752344" y="5394960"/>
            <a:ext cx="1362456" cy="384048"/>
          </a:xfrm>
          <a:prstGeom prst="roundRect">
            <a:avLst>
              <a:gd name="adj" fmla="val 50000"/>
            </a:avLst>
          </a:prstGeom>
          <a:solidFill>
            <a:srgbClr val="1632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279392" y="5394960"/>
            <a:ext cx="1261872" cy="384048"/>
          </a:xfrm>
          <a:prstGeom prst="roundRect">
            <a:avLst>
              <a:gd name="adj" fmla="val 50000"/>
            </a:avLst>
          </a:prstGeom>
          <a:solidFill>
            <a:srgbClr val="1632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705856" y="5394960"/>
            <a:ext cx="1563624" cy="384048"/>
          </a:xfrm>
          <a:prstGeom prst="roundRect">
            <a:avLst>
              <a:gd name="adj" fmla="val 50000"/>
            </a:avLst>
          </a:prstGeom>
          <a:solidFill>
            <a:srgbClr val="1632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Gas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434072" y="5394960"/>
            <a:ext cx="1261872" cy="384048"/>
          </a:xfrm>
          <a:prstGeom prst="roundRect">
            <a:avLst>
              <a:gd name="adj" fmla="val 50000"/>
            </a:avLst>
          </a:prstGeom>
          <a:solidFill>
            <a:srgbClr val="1632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Maritime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860536" y="5394960"/>
            <a:ext cx="2670048" cy="384048"/>
          </a:xfrm>
          <a:prstGeom prst="roundRect">
            <a:avLst>
              <a:gd name="adj" fmla="val 50000"/>
            </a:avLst>
          </a:prstGeom>
          <a:solidFill>
            <a:srgbClr val="1632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Buildings &amp; Facilities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6454496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Cyber, safety &amp; good-practice findings — each flagged to the standard, requirement ID and name.</a:t>
            </a:r>
            <a:endParaRPr lang="en-US" sz="1200" dirty="0"/>
          </a:p>
        </p:txBody>
      </p:sp>
      <p:sp>
        <p:nvSpPr>
          <p:cNvPr id="15" name="Chip water"/>
          <p:cNvSpPr txBox="1"/>
          <p:nvPr/>
        </p:nvSpPr>
        <p:spPr>
          <a:xfrm>
            <a:off x="822960" y="5870448"/>
            <a:ext cx="1900000" cy="384048"/>
          </a:xfrm>
          <a:prstGeom prst="roundRect">
            <a:avLst>
              <a:gd name="adj" fmla="val 50000"/>
            </a:avLst>
          </a:prstGeom>
          <a:solidFill>
            <a:srgbClr val="1632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&amp; Wastewater</a:t>
            </a:r>
            <a:endParaRPr lang="en-US" sz="1200" dirty="0"/>
          </a:p>
        </p:txBody>
      </p:sp>
      <p:sp>
        <p:nvSpPr>
          <p:cNvPr id="16" name="Chip health"/>
          <p:cNvSpPr txBox="1"/>
          <p:nvPr/>
        </p:nvSpPr>
        <p:spPr>
          <a:xfrm>
            <a:off x="2887960" y="5870448"/>
            <a:ext cx="1450000" cy="384048"/>
          </a:xfrm>
          <a:prstGeom prst="roundRect">
            <a:avLst>
              <a:gd name="adj" fmla="val 50000"/>
            </a:avLst>
          </a:prstGeom>
          <a:solidFill>
            <a:srgbClr val="1632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1200" dirty="0"/>
          </a:p>
        </p:txBody>
      </p:sp>
      <p:sp>
        <p:nvSpPr>
          <p:cNvPr id="17" name="Chip aviation"/>
          <p:cNvSpPr txBox="1"/>
          <p:nvPr/>
        </p:nvSpPr>
        <p:spPr>
          <a:xfrm>
            <a:off x="4502960" y="5870448"/>
            <a:ext cx="1300000" cy="384048"/>
          </a:xfrm>
          <a:prstGeom prst="roundRect">
            <a:avLst>
              <a:gd name="adj" fmla="val 50000"/>
            </a:avLst>
          </a:prstGeom>
          <a:solidFill>
            <a:srgbClr val="1632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Aviation</a:t>
            </a:r>
            <a:endParaRPr lang="en-US" sz="1200" dirty="0"/>
          </a:p>
        </p:txBody>
      </p:sp>
      <p:sp>
        <p:nvSpPr>
          <p:cNvPr id="18" name="Chip grocery"/>
          <p:cNvSpPr txBox="1"/>
          <p:nvPr/>
        </p:nvSpPr>
        <p:spPr>
          <a:xfrm>
            <a:off x="5967960" y="5870448"/>
            <a:ext cx="1450000" cy="384048"/>
          </a:xfrm>
          <a:prstGeom prst="roundRect">
            <a:avLst>
              <a:gd name="adj" fmla="val 50000"/>
            </a:avLst>
          </a:prstGeom>
          <a:solidFill>
            <a:srgbClr val="1632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Retail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use this catalog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rgbClr val="0E5C7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141732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820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 the markers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73736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scene hides 8 numbered findings. Learners call out what looks wrong at each numbered marker.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34640"/>
            <a:ext cx="457200" cy="457200"/>
          </a:xfrm>
          <a:prstGeom prst="ellipse">
            <a:avLst/>
          </a:prstGeom>
          <a:solidFill>
            <a:srgbClr val="0E5C7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78892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820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answer key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310896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slide that follows each scene lists every finding — what to look for, its type, and the standards it maps to.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06240"/>
            <a:ext cx="457200" cy="457200"/>
          </a:xfrm>
          <a:prstGeom prst="ellipse">
            <a:avLst/>
          </a:prstGeom>
          <a:solidFill>
            <a:srgbClr val="0E5C7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416052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820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it as a quiz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448056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 the key one item at a time, or hold it back and let the group find all eight first.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1417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A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FINDING TYPE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737360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269480" y="1737360"/>
            <a:ext cx="2468880" cy="365760"/>
          </a:xfrm>
          <a:prstGeom prst="roundRect">
            <a:avLst>
              <a:gd name="adj" fmla="val 50000"/>
            </a:avLst>
          </a:prstGeom>
          <a:solidFill>
            <a:srgbClr val="CE7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/ cyber-physical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9875520" y="173736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E8E5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practice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242316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A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STANDARDS FLAGGED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78892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2E6FB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2770632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8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62443-3-3 (system security requirements)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324612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6C4CB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4-2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223760" y="3227832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8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62443-4-2 (component security requirements)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370332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B453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223760" y="3685032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8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PLC Coding Practices – Top 20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309360" y="416052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0E8F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84.09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4142232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82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ISA-TR84.00.09 v3 (cybersecurity &amp; the functional-safety lifecycle)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989320"/>
            <a:ext cx="11064240" cy="685800"/>
          </a:xfrm>
          <a:prstGeom prst="rect">
            <a:avLst/>
          </a:prstGeom>
          <a:solidFill>
            <a:srgbClr val="F3F6F8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standard IDs.  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62443-3-3 (SR), 62443-4-2 (CR/EDR/HDR/NDR) and the PLC Top 20 (#) are cited by exact requirement/item ID and name. ISA-TR84.00.09 v3 items are flagged by security-lifecycle element and the IEC 61511 phase (Analysis / Realization / Operation); confirm exact clause numbers against your controlled copy of v3.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956816" cy="365760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20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 / Biotech Manufacturing Plant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Bioreactor cleanroom suite — DCS/MES, serialization line, batch records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45720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1E8E5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good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336024" y="45720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E7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safety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129016" y="45720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cyber</a:t>
            </a:r>
            <a:endParaRPr lang="en-US" sz="1100" dirty="0"/>
          </a:p>
        </p:txBody>
      </p:sp>
      <p:pic>
        <p:nvPicPr>
          <p:cNvPr id="8" name="Image 0" descr="png/phar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9676" y="1783080"/>
            <a:ext cx="8229600" cy="4937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979676" y="6446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practice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Numbered markers = planted findings. Answer key on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956816" cy="365760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 / Biotech Manufacturing Plant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what to look for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1.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Shared HMI login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Human user identification and authentication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1.1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Human user identification and authentication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84.09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Operation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SIS access control and independence from the BPCS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57200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2.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Recipe editable at HMI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Authorization enforcement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3.4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Software and information integrity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#8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Validate HMI input variables at the PLC level, not only at the HMI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7200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Laptop + USB on DCS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control for portable and mobile devices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2.13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of physical diagnostic and test interfaces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Malicious code protection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SIS trip bypassed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84.09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Operation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Bypass / override management for the SIS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Track operating modes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#15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Define a safe process state in case of a PLC restart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245352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82512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5.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Flat MES/OT network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</a:t>
            </a: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245352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82512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6.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Default vendor password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Authenticator management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1.7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Strength of password-based authentication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1.7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Strength of password-based authentication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245352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82512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7.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Historian export to USB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4.1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Information confidentiality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General purpose person-to-person communication restrictions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control for portable and mobile devices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245352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82512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Signed serialization code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Good practice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cryptographic and/or checksum integrity checks for PLC code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3.4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Software and information integrity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664208" cy="365760"/>
          </a:xfrm>
          <a:prstGeom prst="roundRect">
            <a:avLst>
              <a:gd name="adj" fmla="val 50000"/>
            </a:avLst>
          </a:prstGeom>
          <a:solidFill>
            <a:srgbClr val="B453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20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Oil &amp; Gas — Upstream Wellpad &amp; Drilling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wellpad — RTU/flow computer, wellhead ESD, drilling rig, cellular SCADA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45720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1E8E5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good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336024" y="45720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E7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safety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129016" y="45720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cyber</a:t>
            </a:r>
            <a:endParaRPr lang="en-US" sz="1100" dirty="0"/>
          </a:p>
        </p:txBody>
      </p:sp>
      <p:pic>
        <p:nvPicPr>
          <p:cNvPr id="8" name="Image 0" descr="png/upstre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9676" y="1783080"/>
            <a:ext cx="8229600" cy="4937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979676" y="6446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practice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Numbered markers = planted findings. Answer key on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664208" cy="365760"/>
          </a:xfrm>
          <a:prstGeom prst="roundRect">
            <a:avLst>
              <a:gd name="adj" fmla="val 50000"/>
            </a:avLst>
          </a:prstGeom>
          <a:solidFill>
            <a:srgbClr val="B453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Oil &amp; Gas — Upstream Wellpad &amp; Drilling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what to look for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1.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RTU exposed to internet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Access via untrusted networks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3.1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Communication integrity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57200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2.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ESD in manual bypass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84.09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Operation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Bypass / override management for the SIS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Track operating modes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#15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Define a safe process state in case of a PLC restart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7200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Plaintext Modbus/SNMP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Communication integrity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4.3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of cryptography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Disable unused / unneeded communication ports and protocols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Contractor Wi-Fi laptop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control for portable and mobile devices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1.6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Wireless access management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NDR 1.6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Wireless access management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245352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82512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5.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Shared creds on sticky note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Authenticator management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1.7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Strength of password-based authentication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Human user identification and authentication</a:t>
            </a: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245352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82512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6.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Open RTU cabinet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EDR 3.11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Physical tamper resistance and detection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2.13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of physical diagnostic and test interfaces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245352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82512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7.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H2S detector disabled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#20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Trap false negatives and false positives for critical alerts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#7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Validate and alert for paired inputs / outputs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Continuous monitoring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245352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82512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Signed RTU firmware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Good practice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7.8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Control system component inventory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EDR 3.10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Support for updates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EDR 3.14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Integrity of the boot process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664208" cy="365760"/>
          </a:xfrm>
          <a:prstGeom prst="roundRect">
            <a:avLst>
              <a:gd name="adj" fmla="val 50000"/>
            </a:avLst>
          </a:prstGeom>
          <a:solidFill>
            <a:srgbClr val="B453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20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Oil &amp; Gas — Midstream Pump Station &amp; Tank Farm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pump station — SCADA, mainline pumps, custody metering, tank overfill SIS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45720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1E8E5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good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336024" y="45720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E7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safety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129016" y="45720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cyber</a:t>
            </a:r>
            <a:endParaRPr lang="en-US" sz="1100" dirty="0"/>
          </a:p>
        </p:txBody>
      </p:sp>
      <p:pic>
        <p:nvPicPr>
          <p:cNvPr id="8" name="Image 0" descr="png/midstream_o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9676" y="1783080"/>
            <a:ext cx="8229600" cy="4937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979676" y="6446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practice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Numbered markers = planted findings. Answer key on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664208" cy="365760"/>
          </a:xfrm>
          <a:prstGeom prst="roundRect">
            <a:avLst>
              <a:gd name="adj" fmla="val 50000"/>
            </a:avLst>
          </a:prstGeom>
          <a:solidFill>
            <a:srgbClr val="B453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Oil &amp; Gas — Midstream Pump Station &amp; Tank Farm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what to look for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1.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Remote access open to internet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Access via untrusted networks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2.6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Remote session termination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57200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2.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Tank overfill trip inhibited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84.09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Operation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Bypass / override management for the SIS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#7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Validate and alert for paired inputs / outputs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#12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Validate inputs based on physical plausibility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7200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Writable custody metering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Communication integrity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Input validation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#14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Restrict third-party data interfaces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Flat pump network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245352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82512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5.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Weak SCADA credentials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Human user identification and authentication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1.7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Strength of password-based authentication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Authenticator management</a:t>
            </a: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245352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82512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6.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Leak detection muted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Track operating modes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#20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Trap false negatives and false positives for critical alerts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Continuous monitoring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245352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82512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7.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Unpatched SCADA server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Malicious code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7.6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and security configuration settings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HDR 3.2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Malicious code protection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245352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82512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DMZ + one-way historian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Good practice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Audit log accessibility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664208" cy="365760"/>
          </a:xfrm>
          <a:prstGeom prst="roundRect">
            <a:avLst>
              <a:gd name="adj" fmla="val 50000"/>
            </a:avLst>
          </a:prstGeom>
          <a:solidFill>
            <a:srgbClr val="B453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20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Oil &amp; Gas — Downstream Refinery &amp; Control Room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Refinery process unit — DCS control room, BPCS/SIS separation, furnace &amp; flare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45720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1E8E5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good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336024" y="45720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E7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safety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129016" y="45720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cyber</a:t>
            </a:r>
            <a:endParaRPr lang="en-US" sz="1100" dirty="0"/>
          </a:p>
        </p:txBody>
      </p:sp>
      <p:pic>
        <p:nvPicPr>
          <p:cNvPr id="8" name="Image 0" descr="png/downstre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9676" y="1783080"/>
            <a:ext cx="8229600" cy="4937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979676" y="6446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practice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Numbered markers = planted findings. Answer key on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664208" cy="365760"/>
          </a:xfrm>
          <a:prstGeom prst="roundRect">
            <a:avLst>
              <a:gd name="adj" fmla="val 50000"/>
            </a:avLst>
          </a:prstGeom>
          <a:solidFill>
            <a:srgbClr val="B453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Oil &amp; Gas — Downstream Refinery &amp; Control Room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what to look for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1.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BPCS &amp; SIS not separated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84.09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Realization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SIS zones and conduits (SIS as a separate zone)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5.4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Application partitioning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57200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2.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SIS key-switch in PROGRAM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Track operating modes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84.09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Realization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Security verification &amp; validation of the SIF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2.13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of physical diagnostic and test interfaces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7200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Furnace trip forced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84.09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Operation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Bypass / override management for the SIS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#15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Define a safe process state in case of a PLC restart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Authorization enforcement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Unlocked shared console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Session lock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Human user identification and authentication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2.5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Session lock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245352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82512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5.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Always-on vendor VPN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Access via untrusted networks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2.6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Remote session termination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NDR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</a:t>
            </a: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245352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82512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6.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Alarm flood / shelved alarms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#20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Trap false negatives and false positives for critical alerts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Continuous monitoring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84.09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Operation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Management of change (MOC) for SIS security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245352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82512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7.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USB IT-&gt;DCS transfer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control for portable and mobile devices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Malicious code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3.4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Software and information integrity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245352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82512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Independent, locked SIS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Good practice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84.09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Operation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Management of change (MOC) for SIS security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7.6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and security configuration settings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EDR 3.11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Physical tamper resistance and detection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664208" cy="365760"/>
          </a:xfrm>
          <a:prstGeom prst="roundRect">
            <a:avLst>
              <a:gd name="adj" fmla="val 50000"/>
            </a:avLst>
          </a:prstGeom>
          <a:solidFill>
            <a:srgbClr val="B453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20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Oil &amp; Gas — Offshore Platform &amp; Helicopter Transfer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production — ICSS, Fire &amp; Gas, ESD, helideck, VSAT, crew change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45720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1E8E5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good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336024" y="45720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E7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safety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129016" y="45720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cyber</a:t>
            </a:r>
            <a:endParaRPr lang="en-US" sz="1100" dirty="0"/>
          </a:p>
        </p:txBody>
      </p:sp>
      <p:pic>
        <p:nvPicPr>
          <p:cNvPr id="8" name="Image 0" descr="png/offsh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9676" y="1783080"/>
            <a:ext cx="8229600" cy="4937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979676" y="6446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practice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Numbered markers = planted findings. Answer key on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664208" cy="365760"/>
          </a:xfrm>
          <a:prstGeom prst="roundRect">
            <a:avLst>
              <a:gd name="adj" fmla="val 50000"/>
            </a:avLst>
          </a:prstGeom>
          <a:solidFill>
            <a:srgbClr val="B453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Oil &amp; Gas — Offshore Platform &amp; Helicopter Transfer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what to look for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1.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VSAT flat to shore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Access via untrusted networks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NDR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57200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2.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F&amp;G inhibited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#7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Validate and alert for paired inputs / outputs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#20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Trap false negatives and false positives for critical alerts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84.09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Operation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Bypass / override management for the SIS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7200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Helideck PLC on process net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5.4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Application partitioning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Disable unused / unneeded communication ports and protocols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Crew-change laptop/USB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control for portable and mobile devices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Malicious code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2.13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of physical diagnostic and test interfaces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245352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82512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5.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ESD override no confirm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84.09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Operation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Management of change (MOC) for SIS security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Track operating modes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Authorization enforcement</a:t>
            </a: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245352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82512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6.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Shared OIM account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Human user identification and authentication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Account management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Authenticator management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245352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82512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7.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Open wireless IIoT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1.6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Wireless access management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Wireless use control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4.3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of cryptography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245352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82512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Defined safe state + recovery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Good practice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#15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Define a safe process state in case of a PLC restart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7.4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Control system recovery and reconstitution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7.5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Emergency power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591056" cy="365760"/>
          </a:xfrm>
          <a:prstGeom prst="roundRect">
            <a:avLst>
              <a:gd name="adj" fmla="val 50000"/>
            </a:avLst>
          </a:prstGeom>
          <a:solidFill>
            <a:srgbClr val="2E6FB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20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Electric — Transmission Substation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 substation — RTU, protective relays (IEC 61850), GOOSE, control house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45720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1E8E5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good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336024" y="45720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E7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safety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129016" y="45720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cyber</a:t>
            </a:r>
            <a:endParaRPr lang="en-US" sz="1100" dirty="0"/>
          </a:p>
        </p:txBody>
      </p:sp>
      <p:pic>
        <p:nvPicPr>
          <p:cNvPr id="8" name="Image 0" descr="png/subst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9676" y="1783080"/>
            <a:ext cx="8229600" cy="4937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979676" y="6446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practice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Numbered markers = planted findings. Answer key on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591056" cy="365760"/>
          </a:xfrm>
          <a:prstGeom prst="roundRect">
            <a:avLst>
              <a:gd name="adj" fmla="val 50000"/>
            </a:avLst>
          </a:prstGeom>
          <a:solidFill>
            <a:srgbClr val="2E6FB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Electric — Transmission Substation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what to look for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1.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Unauthenticated IEC 61850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Software process and device identification and authentication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Communication integrity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1.2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Software process and device identification and authentication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57200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2.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Dial-in default password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Access via untrusted networks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Authenticator management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1.7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Strength of password-based authentication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7200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Laptop bridges IT/OT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Relay change, no approval/audit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Authorization enforcement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2.8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Auditable events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2.12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Non-repudiation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245352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82512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5.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Control house unsecured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EDR 3.11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Physical tamper resistance and detection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2.13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of physical diagnostic and test interfaces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Authorization enforcement</a:t>
            </a: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245352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82512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6.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GOOSE not monitored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Continuous monitoring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Communication integrity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245352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82512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7.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Unpatched IED firmware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EDR 3.10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Support for updates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EDR 3.14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Integrity of the boot process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7.8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Control system component inventory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245352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82512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Segmented bus + SIEM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Good practice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NDR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Audit log accessibility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591056" cy="365760"/>
          </a:xfrm>
          <a:prstGeom prst="roundRect">
            <a:avLst>
              <a:gd name="adj" fmla="val 50000"/>
            </a:avLst>
          </a:prstGeom>
          <a:solidFill>
            <a:srgbClr val="2E6FB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20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Electric — Smart Meters &amp; Distribution Automation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 on homes &amp; buildings — smart meters, RF mesh, head-end, reclosers, HAN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45720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1E8E5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good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336024" y="45720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E7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safety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129016" y="45720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cyber</a:t>
            </a:r>
            <a:endParaRPr lang="en-US" sz="1100" dirty="0"/>
          </a:p>
        </p:txBody>
      </p:sp>
      <p:pic>
        <p:nvPicPr>
          <p:cNvPr id="8" name="Image 0" descr="png/am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9676" y="1783080"/>
            <a:ext cx="8229600" cy="4937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979676" y="6446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practice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Numbered markers = planted findings. Answer key on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591056" cy="365760"/>
          </a:xfrm>
          <a:prstGeom prst="roundRect">
            <a:avLst>
              <a:gd name="adj" fmla="val 50000"/>
            </a:avLst>
          </a:prstGeom>
          <a:solidFill>
            <a:srgbClr val="2E6FB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Electric — Smart Meters &amp; Distribution Automation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what to look for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1.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Broken meter seal / local port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EDR 3.11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Physical tamper resistance and detection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2.13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of physical diagnostic and test interfaces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3.4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Software and information integrity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57200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2.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Default RF-mesh keys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1.6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Wireless access management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4.3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of cryptography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NDR 1.6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Wireless access management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7200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Unsigned firmware push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3.4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Software and information integrity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EDR 3.14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Integrity of the boot process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EDR 3.10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Support for updates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Disconnect not authz-controlled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Authorization enforcement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Software process and device identification and authentication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Input validation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245352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82512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5.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Plaintext DNP3 recloser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Communication integrity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4.3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of cryptography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Disable unused / unneeded communication ports and protocols</a:t>
            </a: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245352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82512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6.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HAN bridged to meter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General purpose person-to-person communication restrictions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4.1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Information confidentiality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245352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82512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7.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No fleet inventory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7.8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Control system component inventory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Continuous monitoring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EDR 3.10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Support for updates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245352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82512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Signed FW + per-device keys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Good practice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EDR 3.12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Provisioning product supplier roots of trust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EDR 3.13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Provisioning asset owner roots of trust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Software process and device identification and authentication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810512" cy="365760"/>
          </a:xfrm>
          <a:prstGeom prst="roundRect">
            <a:avLst>
              <a:gd name="adj" fmla="val 50000"/>
            </a:avLst>
          </a:prstGeom>
          <a:solidFill>
            <a:srgbClr val="8A6D0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GAS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20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Gas — Farm Tap, Pipeline Station &amp; Compression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gathering — farm-tap RTU, metering, compressor ESD, odorizer, telemetry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45720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1E8E5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good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336024" y="45720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E7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safety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129016" y="45720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cyber</a:t>
            </a:r>
            <a:endParaRPr lang="en-US" sz="1100" dirty="0"/>
          </a:p>
        </p:txBody>
      </p:sp>
      <p:pic>
        <p:nvPicPr>
          <p:cNvPr id="8" name="Image 0" descr="png/gas_midstre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9676" y="1783080"/>
            <a:ext cx="8229600" cy="4937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979676" y="6446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practice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Numbered markers = planted findings. Answer key on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810512" cy="365760"/>
          </a:xfrm>
          <a:prstGeom prst="roundRect">
            <a:avLst>
              <a:gd name="adj" fmla="val 50000"/>
            </a:avLst>
          </a:prstGeom>
          <a:solidFill>
            <a:srgbClr val="8A6D0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GAS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Gas — Farm Tap, Pipeline Station &amp; Compression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what to look for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1.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Open farm-tap RTU + radio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EDR 3.11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Physical tamper resistance and detection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1.6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Wireless access management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4.3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of cryptography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57200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2.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Compressor ESD bypassed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84.09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Operation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Bypass / override management for the SIS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#15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Define a safe process state in case of a PLC restart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Track operating modes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7200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Writable metering PLC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Communication integrity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Input validation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#8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Validate HMI input variables at the PLC level, not only at the HMI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Flat station network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245352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82512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5.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Always-on vendor cellular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Access via untrusted networks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Authenticator management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2.6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Remote session termination</a:t>
            </a: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245352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82512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6.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Odorizer alarm inhibited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#20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Trap false negatives and false positives for critical alerts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#12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Validate inputs based on physical plausibility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Continuous monitoring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245352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82512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7.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Unauthenticated polling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Software process and device identification and authentication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Communication integrity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1.2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Software process and device identification and authentication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245352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82512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Hardened field RTUs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Good practice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Disable unused / unneeded communication ports and protocols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7.6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and security configuration settings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7.7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Least functionality</a:t>
            </a: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810512" cy="365760"/>
          </a:xfrm>
          <a:prstGeom prst="roundRect">
            <a:avLst>
              <a:gd name="adj" fmla="val 50000"/>
            </a:avLst>
          </a:prstGeom>
          <a:solidFill>
            <a:srgbClr val="8A6D0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GAS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20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Gas — LNG Terminal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LNG liquefaction/regas — jetty loading arms, ship-shore link, SIS, F&amp;G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45720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1E8E5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good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336024" y="45720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E7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safety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129016" y="45720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cyber</a:t>
            </a:r>
            <a:endParaRPr lang="en-US" sz="1100" dirty="0"/>
          </a:p>
        </p:txBody>
      </p:sp>
      <p:pic>
        <p:nvPicPr>
          <p:cNvPr id="8" name="Image 0" descr="png/l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9676" y="1783080"/>
            <a:ext cx="8229600" cy="4937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979676" y="6446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practice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Numbered markers = planted findings. Answer key on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810512" cy="365760"/>
          </a:xfrm>
          <a:prstGeom prst="roundRect">
            <a:avLst>
              <a:gd name="adj" fmla="val 50000"/>
            </a:avLst>
          </a:prstGeom>
          <a:solidFill>
            <a:srgbClr val="8A6D0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GAS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Gas — LNG Terminal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what to look for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1.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Jetty ESD not independent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84.09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Realization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SIS zones and conduits (SIS as a separate zone)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5.4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Application partitioning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57200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2.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F&amp;G forced from commissioning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84.09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Operation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Management of change (MOC) for SIS security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#7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Validate and alert for paired inputs / outputs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#15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Define a safe process state in case of a PLC restart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7200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Unauthenticated ship-shore link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Communication integrity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Software process and device identification and authentication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4.3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of cryptography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DCS laptop shared w/ email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control for portable and mobile devices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Malicious code protection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245352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82512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5.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Open mooring IIoT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1.6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Wireless access management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4.3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of cryptography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NDR 1.6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Wireless access management</a:t>
            </a: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245352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82512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6.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Always-on refrigeration VPN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Access via untrusted networks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2.6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Remote session termination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Continuous monitoring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245352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82512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7.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Shared console, no lock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Human user identification and authentication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Session lock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Authenticator management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245352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82512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Independent HIPPS/SIS, MOC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Good practice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84.09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Operation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Management of change (MOC) for SIS security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7.6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and security configuration settings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EDR 3.11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Physical tamper resistance and detection</a:t>
            </a: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591056" cy="365760"/>
          </a:xfrm>
          <a:prstGeom prst="roundRect">
            <a:avLst>
              <a:gd name="adj" fmla="val 50000"/>
            </a:avLst>
          </a:prstGeom>
          <a:solidFill>
            <a:srgbClr val="1F6E6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MARITIME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20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Maritime — Vessel Bridge &amp; Engine Room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OT — ECDIS, IBS, GNSS, engine/propulsion PLC (PMS), VSAT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45720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1E8E5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good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336024" y="45720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E7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safety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129016" y="45720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cyber</a:t>
            </a:r>
            <a:endParaRPr lang="en-US" sz="1100" dirty="0"/>
          </a:p>
        </p:txBody>
      </p:sp>
      <p:pic>
        <p:nvPicPr>
          <p:cNvPr id="8" name="Image 0" descr="png/vess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9676" y="1783080"/>
            <a:ext cx="8229600" cy="4937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979676" y="6446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practice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Numbered markers = planted findings. Answer key on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591056" cy="365760"/>
          </a:xfrm>
          <a:prstGeom prst="roundRect">
            <a:avLst>
              <a:gd name="adj" fmla="val 50000"/>
            </a:avLst>
          </a:prstGeom>
          <a:solidFill>
            <a:srgbClr val="1F6E6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MARITIME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Maritime — Vessel Bridge &amp; Engine Room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what to look for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1.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ECDIS USB updates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control for portable and mobile devices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Malicious code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2.13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of physical diagnostic and test interfaces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57200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2.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No GNSS spoof detection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Input validation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#12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Validate inputs based on physical plausibility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Continuous monitoring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7200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Crew Wi-Fi bridged to nav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NDR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Always-on OEM satellite access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Access via untrusted networks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2.6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Remote session termination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Continuous monitoring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245352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82512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5.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Shared bridge login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Human user identification and authentication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Account management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Authenticator management</a:t>
            </a: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245352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82512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6.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Steering safe-state undefined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#15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Define a safe process state in case of a PLC restart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Track operating modes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#20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Trap false negatives and false positives for critical alerts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245352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82512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7.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Default gateway creds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Authenticator management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1.7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Strength of password-based authentication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Disable unused / unneeded communication ports and protocols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245352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82512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Segmented per IACS E26/E27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Good practice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7.8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Control system component inventory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EDR 3.14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Integrity of the boot process</a:t>
            </a:r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591056" cy="365760"/>
          </a:xfrm>
          <a:prstGeom prst="roundRect">
            <a:avLst>
              <a:gd name="adj" fmla="val 50000"/>
            </a:avLst>
          </a:prstGeom>
          <a:solidFill>
            <a:srgbClr val="1F6E6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MARITIME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20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Maritime — Port &amp; Container Terminal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terminal — STS/RTG cranes, TOS, reefers, gate OCR, radio remote control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45720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1E8E5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good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336024" y="45720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E7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safety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129016" y="45720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cyber</a:t>
            </a:r>
            <a:endParaRPr lang="en-US" sz="1100" dirty="0"/>
          </a:p>
        </p:txBody>
      </p:sp>
      <p:pic>
        <p:nvPicPr>
          <p:cNvPr id="8" name="Image 0" descr="png/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9676" y="1783080"/>
            <a:ext cx="8229600" cy="4937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979676" y="6446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practice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Numbered markers = planted findings. Answer key on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591056" cy="365760"/>
          </a:xfrm>
          <a:prstGeom prst="roundRect">
            <a:avLst>
              <a:gd name="adj" fmla="val 50000"/>
            </a:avLst>
          </a:prstGeom>
          <a:solidFill>
            <a:srgbClr val="1F6E6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MARITIME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Maritime — Port &amp; Container Terminal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what to look for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1.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Crane drive default creds/Wi-Fi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1.6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Wireless access management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Access via untrusted networks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Authenticator management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57200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2.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Anti-collision bypassed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84.09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Operation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Bypass / override management for the SIS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#7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Validate and alert for paired inputs / outputs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#15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Define a safe process state in case of a PLC restart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7200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TOS flat to crane OT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Internet-exposed gate/reefer IoT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Authenticator management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Access via untrusted networks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245352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82512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5.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USB crane programming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control for portable and mobile devices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3.4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Software and information integrity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2.13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of physical diagnostic and test interfaces</a:t>
            </a: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245352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82512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6.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Unauthenticated radio control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1.6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Wireless access management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Wireless use control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4.3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of cryptography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245352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82512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7.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No PLC change logging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2.8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Auditable events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Continuous monitoring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2.12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Non-repudiation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245352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82512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Segmented crane zone + baselines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Good practice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NDR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2.8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Auditable events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cryptographic and/or checksum integrity checks for PLC code</a:t>
            </a:r>
            <a:endParaRPr 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2615184" cy="365760"/>
          </a:xfrm>
          <a:prstGeom prst="roundRect">
            <a:avLst>
              <a:gd name="adj" fmla="val 50000"/>
            </a:avLst>
          </a:prstGeom>
          <a:solidFill>
            <a:srgbClr val="5B5F9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BUILDINGS &amp; FACILITIES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20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— Cooling &amp; Mechanical Plant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cooling — chillers, CRAH/CRAC, modular cooling, BMS/BACnet, cold-aisle containment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45720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1E8E5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good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336024" y="45720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E7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safety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129016" y="45720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cyber</a:t>
            </a:r>
            <a:endParaRPr lang="en-US" sz="1100" dirty="0"/>
          </a:p>
        </p:txBody>
      </p:sp>
      <p:pic>
        <p:nvPicPr>
          <p:cNvPr id="8" name="Image 0" descr="png/datacenter_coo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9676" y="1783080"/>
            <a:ext cx="8229600" cy="4937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979676" y="6446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practice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Numbered markers = planted findings. Answer key on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2615184" cy="365760"/>
          </a:xfrm>
          <a:prstGeom prst="roundRect">
            <a:avLst>
              <a:gd name="adj" fmla="val 50000"/>
            </a:avLst>
          </a:prstGeom>
          <a:solidFill>
            <a:srgbClr val="5B5F9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BUILDINGS &amp; FACILITIES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— Cooling &amp; Mechanical Plant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what to look for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1.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Flat BMS/BACnet network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57200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2.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Unauthenticated BACnet writes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Communication integrity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Software process and device identification and authentication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Input validation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7200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Always-on chiller OEM access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Access via untrusted networks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Authenticator management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2.6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Remote session termination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Chiller trip bypassed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84.09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Operation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Bypass / override management for the safety function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Track operating modes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#12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Validate inputs based on physical plausibility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245352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82512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5.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Shared BMS login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Human user identification and authentication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Account management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Authenticator management</a:t>
            </a: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245352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82512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6.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Default modular-cooling creds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Authenticator management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1.7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Strength of password-based authentication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7.7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Least functionality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245352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82512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7.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Failover logic not validated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#7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Validate and alert for paired inputs / outputs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#11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Instrument for plausibility checks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7.1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Denial of service protection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245352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82512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Segmented, monitored BMS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Good practice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Continuous monitoring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7.6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and security configuration settings</a:t>
            </a:r>
            <a:endParaRPr lang="en-US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2615184" cy="365760"/>
          </a:xfrm>
          <a:prstGeom prst="roundRect">
            <a:avLst>
              <a:gd name="adj" fmla="val 50000"/>
            </a:avLst>
          </a:prstGeom>
          <a:solidFill>
            <a:srgbClr val="5B5F9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BUILDINGS &amp; FACILITIES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20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Buildings — Automation &amp; Boiler Plant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plant — BAS/BACnet, AHUs, hot-water/steam boilers, burner management (flame safeguard)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45720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1E8E5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good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336024" y="45720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E7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safety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129016" y="45720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cyber</a:t>
            </a:r>
            <a:endParaRPr lang="en-US" sz="1100" dirty="0"/>
          </a:p>
        </p:txBody>
      </p:sp>
      <p:pic>
        <p:nvPicPr>
          <p:cNvPr id="8" name="Image 0" descr="png/bas_boil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9676" y="1783080"/>
            <a:ext cx="8229600" cy="4937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979676" y="6446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practice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Numbered markers = planted findings. Answer key on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2615184" cy="365760"/>
          </a:xfrm>
          <a:prstGeom prst="roundRect">
            <a:avLst>
              <a:gd name="adj" fmla="val 50000"/>
            </a:avLst>
          </a:prstGeom>
          <a:solidFill>
            <a:srgbClr val="5B5F9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BUILDINGS &amp; FACILITIES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Buildings — Automation &amp; Boiler Plant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what to look for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1.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BAS exposed to internet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Access via untrusted networks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Authenticator management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57200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2.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Burner safeguard forced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84.09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Operation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Bypass / override management for the safety function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#15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Define a safe process state in case of a PLC restart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Track operating modes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7200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Integrator laptop across sites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control for portable and mobile devices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Malicious code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2.13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of physical diagnostic and test interfaces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Spoofable BACnet commands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Software process and device identification and authentication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Communication integrity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Input validation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245352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82512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5.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Combustion alarms inhibited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#20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Trap false negatives and false positives for critical alerts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#7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Validate and alert for paired inputs / outputs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Continuous monitoring</a:t>
            </a: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245352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82512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6.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Flat tenant/IT network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245352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82512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7.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No controller backup/inventory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7.3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Control system backup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7.8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Control system component inventory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7.4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Control system recovery and reconstitution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245352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82512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Independent burner management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Good practice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84.09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Operation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Management of change (MOC) for the safety function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Authorization enforcement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EDR 3.11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Physical tamper resistance and detection</a:t>
            </a:r>
            <a:endParaRPr lang="en-US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2615184" cy="365760"/>
          </a:xfrm>
          <a:prstGeom prst="roundRect">
            <a:avLst>
              <a:gd name="adj" fmla="val 50000"/>
            </a:avLst>
          </a:prstGeom>
          <a:solidFill>
            <a:srgbClr val="5B5F9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BUILDINGS &amp; FACILITIES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20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Buildings — Fire &amp; Life Safety Systems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FACP, suppression release, smoke control, mass notification — increasingly IP-networked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45720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1E8E5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good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336024" y="45720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E7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safety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129016" y="45720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cyber</a:t>
            </a:r>
            <a:endParaRPr lang="en-US" sz="1100" dirty="0"/>
          </a:p>
        </p:txBody>
      </p:sp>
      <p:pic>
        <p:nvPicPr>
          <p:cNvPr id="8" name="Image 0" descr="png/fire_life_safe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9676" y="1783080"/>
            <a:ext cx="8229600" cy="4937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979676" y="6446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practice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Numbered markers = planted findings. Answer key on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2615184" cy="365760"/>
          </a:xfrm>
          <a:prstGeom prst="roundRect">
            <a:avLst>
              <a:gd name="adj" fmla="val 50000"/>
            </a:avLst>
          </a:prstGeom>
          <a:solidFill>
            <a:srgbClr val="5B5F9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BUILDINGS &amp; FACILITIES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Buildings — Fire &amp; Life Safety Systems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what to look for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1.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FACP on IT network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NDR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57200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2.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Suppression release bypassed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84.09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Operation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Bypass / override management for the safety function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Track operating modes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Authorization enforcement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7200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Smoke-control spoofable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Communication integrity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Input validation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#7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Validate and alert for paired inputs / outputs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Plaintext fire gateway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Authenticator management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Communication integrity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4.3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of cryptography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245352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82512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5.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Mass-notification reachable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Software process and device identification and authentication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Authorization enforcement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</a:t>
            </a: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245352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82512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6.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Zones left disabled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#20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Trap false negatives and false positives for critical alerts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Track operating modes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Continuous monitoring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245352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82512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7.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No change control on panel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2.8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Auditable events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2.12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Non-repudiation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84.09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Operation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Management of change (MOC) for the safety function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245352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82512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Segmented life-safety net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Good practice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84.09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Operation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Management of change (MOC) for the safety function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Continuous monitoring</a:t>
            </a:r>
            <a:endParaRPr lang="en-US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2615184" cy="365760"/>
          </a:xfrm>
          <a:prstGeom prst="roundRect">
            <a:avLst>
              <a:gd name="adj" fmla="val 50000"/>
            </a:avLst>
          </a:prstGeom>
          <a:solidFill>
            <a:srgbClr val="5B5F9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BUILDINGS &amp; FACILITIES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20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Buildings — Physical Access Control &amp; Security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PACS — IP door controllers, card readers (Wiegand/OSDP), CCTV/VMS, intrusion, elevator/turnstiles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45720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1E8E5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good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336024" y="45720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E7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safety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129016" y="45720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cyber</a:t>
            </a:r>
            <a:endParaRPr lang="en-US" sz="1100" dirty="0"/>
          </a:p>
        </p:txBody>
      </p:sp>
      <p:pic>
        <p:nvPicPr>
          <p:cNvPr id="8" name="Image 0" descr="png/pacs_secu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9676" y="1783080"/>
            <a:ext cx="8229600" cy="4937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979676" y="6446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practice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Numbered markers = planted findings. Answer key on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2615184" cy="365760"/>
          </a:xfrm>
          <a:prstGeom prst="roundRect">
            <a:avLst>
              <a:gd name="adj" fmla="val 50000"/>
            </a:avLst>
          </a:prstGeom>
          <a:solidFill>
            <a:srgbClr val="5B5F9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BUILDINGS &amp; FACILITIES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Buildings — Physical Access Control &amp; Security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what to look for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1.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Cleartext Wiegand readers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Communication integrity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4.3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of cryptography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Software process and device identification and authentication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57200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2.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Default-cred IP cameras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Authenticator management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Access via untrusted networks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7200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Flat door-controller net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Shared PACS admin, no audit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Human user identification and authentication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2.8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Auditable events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2.12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Non-repudiation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245352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82512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5.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Unlock override enabled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Track operating modes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#15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Define a safe process state in case of a PLC restart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Authorization enforcement</a:t>
            </a: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245352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82512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6.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Unpatched, tamperable devices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EDR 3.11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Physical tamper resistance and detection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EDR 3.10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Support for updates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2.13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of physical diagnostic and test interfaces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245352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82512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7.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Always-on VMS/PACS access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Access via untrusted networks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Authenticator management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2.6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Remote session termination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245352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82512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OSDP-secure, segmented, logged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Good practice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Communication integrity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2.8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Auditable events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EDR 3.14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Integrity of the boot process</a:t>
            </a:r>
            <a:endParaRPr lang="en-US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E1B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29984"/>
            <a:ext cx="12188952" cy="128016"/>
          </a:xfrm>
          <a:prstGeom prst="rect">
            <a:avLst/>
          </a:prstGeom>
          <a:solidFill>
            <a:srgbClr val="0E5C7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from this catalog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8600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reusable base of ICS/OT/IoT cyber-physical scenarios. Add sectors, swap in your own assets and photoreal scenes, and extend the standards flags.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3832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8C6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114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33832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8C6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184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4114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findings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33832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8C6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4114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mapped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778240" y="33832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8C6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8778240" y="4114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58521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types and standard mappings are teaching aids, not a compliance assessment. Confirm ISA-TR84.00.09 v3 clause numbers against your controlled copy.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84048"/>
            <a:ext cx="1956816" cy="365760"/>
          </a:xfrm>
          <a:prstGeom prst="roundRect">
            <a:avLst>
              <a:gd name="adj" fmla="val 50000"/>
            </a:avLst>
          </a:prstGeom>
          <a:solidFill>
            <a:srgbClr val="1C7DB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&amp; WASTEWATER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20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&amp; Wastewater — Surface Water Treatment Plant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plant — SCADA, Rockwell/Schneider PLCs, chlorine dosing, filtration, remote telemetry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45720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1E8E5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good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336024" y="45720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E7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safety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129016" y="45720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cyber</a:t>
            </a:r>
            <a:endParaRPr lang="en-US" sz="1100" dirty="0"/>
          </a:p>
        </p:txBody>
      </p:sp>
      <p:pic>
        <p:nvPicPr>
          <p:cNvPr id="10" name="Image 0" descr="water_treat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6" y="1783080"/>
            <a:ext cx="8229600" cy="4937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979676" y="6446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practice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Numbered markers = planted findings. Answer key on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84048"/>
            <a:ext cx="1956816" cy="365760"/>
          </a:xfrm>
          <a:prstGeom prst="roundRect">
            <a:avLst>
              <a:gd name="adj" fmla="val 50000"/>
            </a:avLst>
          </a:prstGeom>
          <a:solidFill>
            <a:srgbClr val="1C7DB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&amp; WASTEWATER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&amp; Wastewater — Surface Water Treatment Plant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what to look for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1.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Internet-exposed PLC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Access via untrusted networks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Disable unused / unneeded communication ports and protocols</a:t>
            </a:r>
          </a:p>
        </p:txBody>
      </p:sp>
      <p:sp>
        <p:nvSpPr>
          <p:cNvPr id="6" name="Shape 4"/>
          <p:cNvSpPr/>
          <p:nvPr/>
        </p:nvSpPr>
        <p:spPr>
          <a:xfrm>
            <a:off x="457200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2.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Shared SCADA login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Human user identification and authentication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Authenticator management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1.1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Human user identification and authentication</a:t>
            </a:r>
          </a:p>
        </p:txBody>
      </p:sp>
      <p:sp>
        <p:nvSpPr>
          <p:cNvPr id="8" name="Shape 6"/>
          <p:cNvSpPr/>
          <p:nvPr/>
        </p:nvSpPr>
        <p:spPr>
          <a:xfrm>
            <a:off x="457200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Unbounded chlorine dose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#8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Validate HMI input variables at the PLC level, not only at the HMI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#12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Validate inputs based on physical plausibility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Input validation</a:t>
            </a:r>
          </a:p>
        </p:txBody>
      </p:sp>
      <p:sp>
        <p:nvSpPr>
          <p:cNvPr id="10" name="Shape 8"/>
          <p:cNvSpPr/>
          <p:nvPr/>
        </p:nvSpPr>
        <p:spPr>
          <a:xfrm>
            <a:off x="457200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Always-on remote access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Access via untrusted networks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2.6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Remote session termination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Continuous monitoring</a:t>
            </a:r>
          </a:p>
        </p:txBody>
      </p:sp>
      <p:sp>
        <p:nvSpPr>
          <p:cNvPr id="12" name="Shape 10"/>
          <p:cNvSpPr/>
          <p:nvPr/>
        </p:nvSpPr>
        <p:spPr>
          <a:xfrm>
            <a:off x="6245352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82512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5.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Flat IT/OT network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</a:t>
            </a:r>
          </a:p>
        </p:txBody>
      </p:sp>
      <p:sp>
        <p:nvSpPr>
          <p:cNvPr id="14" name="Shape 12"/>
          <p:cNvSpPr/>
          <p:nvPr/>
        </p:nvSpPr>
        <p:spPr>
          <a:xfrm>
            <a:off x="6245352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82512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6.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Clearwell alarm inhibited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#20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Trap false negatives and false positives for critical alerts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#11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Instrument for plausibility checks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Continuous monitoring</a:t>
            </a:r>
          </a:p>
        </p:txBody>
      </p:sp>
      <p:sp>
        <p:nvSpPr>
          <p:cNvPr id="16" name="Shape 14"/>
          <p:cNvSpPr/>
          <p:nvPr/>
        </p:nvSpPr>
        <p:spPr>
          <a:xfrm>
            <a:off x="6245352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82512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7.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No PLC backup / change log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7.3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Control system backup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2.8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Auditable events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cryptographic and/or checksum integrity checks for PLC code</a:t>
            </a:r>
          </a:p>
        </p:txBody>
      </p:sp>
      <p:sp>
        <p:nvSpPr>
          <p:cNvPr id="18" name="Shape 16"/>
          <p:cNvSpPr/>
          <p:nvPr/>
        </p:nvSpPr>
        <p:spPr>
          <a:xfrm>
            <a:off x="6245352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82512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Independent dosing interlock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Good practice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#12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Validate inputs based on physical plausibility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3.6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Deterministic output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84048"/>
            <a:ext cx="1956816" cy="365760"/>
          </a:xfrm>
          <a:prstGeom prst="roundRect">
            <a:avLst>
              <a:gd name="adj" fmla="val 50000"/>
            </a:avLst>
          </a:prstGeom>
          <a:solidFill>
            <a:srgbClr val="1C7DB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&amp; WASTEWATER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20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&amp; Wastewater — Remote Sewer Lift Station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Unstaffed lift station — RTU/PLC, wet-well level, cellular SCADA, pump control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45720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1E8E5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good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336024" y="45720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E7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safety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129016" y="45720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cyber</a:t>
            </a:r>
            <a:endParaRPr lang="en-US" sz="1100" dirty="0"/>
          </a:p>
        </p:txBody>
      </p:sp>
      <p:pic>
        <p:nvPicPr>
          <p:cNvPr id="10" name="Image 0" descr="water_lifts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6" y="1783080"/>
            <a:ext cx="8229600" cy="4937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979676" y="6446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practice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Numbered markers = planted findings. Answer key on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84048"/>
            <a:ext cx="1956816" cy="365760"/>
          </a:xfrm>
          <a:prstGeom prst="roundRect">
            <a:avLst>
              <a:gd name="adj" fmla="val 50000"/>
            </a:avLst>
          </a:prstGeom>
          <a:solidFill>
            <a:srgbClr val="1C7DB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&amp; WASTEWATER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&amp; Wastewater — Remote Sewer Lift Station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what to look for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1.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Default RTU credential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Authenticator management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1.7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Strength of password-based authentication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1.7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Strength of password-based authentication</a:t>
            </a:r>
          </a:p>
        </p:txBody>
      </p:sp>
      <p:sp>
        <p:nvSpPr>
          <p:cNvPr id="6" name="Shape 4"/>
          <p:cNvSpPr/>
          <p:nvPr/>
        </p:nvSpPr>
        <p:spPr>
          <a:xfrm>
            <a:off x="457200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2.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Internet-reachable RTU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Access via untrusted networks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Disable unused / unneeded communication ports and protocols</a:t>
            </a:r>
          </a:p>
        </p:txBody>
      </p:sp>
      <p:sp>
        <p:nvSpPr>
          <p:cNvPr id="8" name="Shape 6"/>
          <p:cNvSpPr/>
          <p:nvPr/>
        </p:nvSpPr>
        <p:spPr>
          <a:xfrm>
            <a:off x="457200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High-level float bypassed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#7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Validate and alert for paired inputs / outputs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#20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Trap false negatives and false positives for critical alerts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Continuous monitoring</a:t>
            </a:r>
          </a:p>
        </p:txBody>
      </p:sp>
      <p:sp>
        <p:nvSpPr>
          <p:cNvPr id="10" name="Shape 8"/>
          <p:cNvSpPr/>
          <p:nvPr/>
        </p:nvSpPr>
        <p:spPr>
          <a:xfrm>
            <a:off x="457200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Open cabinet, laptop wired in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2.13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of physical diagnostic and test interfaces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control for portable and mobile devices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EDR 3.11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Physical tamper resistance and detection</a:t>
            </a:r>
          </a:p>
        </p:txBody>
      </p:sp>
      <p:sp>
        <p:nvSpPr>
          <p:cNvPr id="12" name="Shape 10"/>
          <p:cNvSpPr/>
          <p:nvPr/>
        </p:nvSpPr>
        <p:spPr>
          <a:xfrm>
            <a:off x="6245352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82512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5.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Plaintext SCADA polling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Communication integrity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4.3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of cryptography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3.1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Communication integrity</a:t>
            </a:r>
          </a:p>
        </p:txBody>
      </p:sp>
      <p:sp>
        <p:nvSpPr>
          <p:cNvPr id="14" name="Shape 12"/>
          <p:cNvSpPr/>
          <p:nvPr/>
        </p:nvSpPr>
        <p:spPr>
          <a:xfrm>
            <a:off x="6245352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82512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6.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Pump left in HAND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Track operating modes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Continuous monitoring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84.09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Operation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Bypass / override management for the safety function</a:t>
            </a:r>
          </a:p>
        </p:txBody>
      </p:sp>
      <p:sp>
        <p:nvSpPr>
          <p:cNvPr id="16" name="Shape 14"/>
          <p:cNvSpPr/>
          <p:nvPr/>
        </p:nvSpPr>
        <p:spPr>
          <a:xfrm>
            <a:off x="6245352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82512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7.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No remote-access logging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2.8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Auditable events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Continuous monitoring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2.6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Remote session termination</a:t>
            </a:r>
          </a:p>
        </p:txBody>
      </p:sp>
      <p:sp>
        <p:nvSpPr>
          <p:cNvPr id="18" name="Shape 16"/>
          <p:cNvSpPr/>
          <p:nvPr/>
        </p:nvSpPr>
        <p:spPr>
          <a:xfrm>
            <a:off x="6245352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82512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Independent overflow alarm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Good practice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#20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Trap false negatives and false positives for critical alerts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Continuous monitoring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84048"/>
            <a:ext cx="1956816" cy="365760"/>
          </a:xfrm>
          <a:prstGeom prst="roundRect">
            <a:avLst>
              <a:gd name="adj" fmla="val 50000"/>
            </a:avLst>
          </a:prstGeom>
          <a:solidFill>
            <a:srgbClr val="C0397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20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Healthcare — Hospital Facility Control Systems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BMS — Metasys/Desigo/Niagara, isolation-room pressure, medical-gas alarms, generator/ATS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45720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1E8E5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good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336024" y="45720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E7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safety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129016" y="45720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cyber</a:t>
            </a:r>
            <a:endParaRPr lang="en-US" sz="1100" dirty="0"/>
          </a:p>
        </p:txBody>
      </p:sp>
      <p:pic>
        <p:nvPicPr>
          <p:cNvPr id="10" name="Image 0" descr="hospital_fac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6" y="1783080"/>
            <a:ext cx="8229600" cy="4937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979676" y="6446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practice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Numbered markers = planted findings. Answer key on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84048"/>
            <a:ext cx="1956816" cy="365760"/>
          </a:xfrm>
          <a:prstGeom prst="roundRect">
            <a:avLst>
              <a:gd name="adj" fmla="val 50000"/>
            </a:avLst>
          </a:prstGeom>
          <a:solidFill>
            <a:srgbClr val="C0397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Healthcare — Hospital Facility Control Systems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what to look for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1.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Default BMS credential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Authenticator management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1.7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Strength of password-based authentication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Human user identification and authentication</a:t>
            </a:r>
          </a:p>
        </p:txBody>
      </p:sp>
      <p:sp>
        <p:nvSpPr>
          <p:cNvPr id="6" name="Shape 4"/>
          <p:cNvSpPr/>
          <p:nvPr/>
        </p:nvSpPr>
        <p:spPr>
          <a:xfrm>
            <a:off x="457200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2.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Internet-exposed BMS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Access via untrusted networks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NDR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</a:t>
            </a:r>
          </a:p>
        </p:txBody>
      </p:sp>
      <p:sp>
        <p:nvSpPr>
          <p:cNvPr id="8" name="Shape 6"/>
          <p:cNvSpPr/>
          <p:nvPr/>
        </p:nvSpPr>
        <p:spPr>
          <a:xfrm>
            <a:off x="457200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Isolation-pressure alarm off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#20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Trap false negatives and false positives for critical alerts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Continuous monitoring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84.09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Operation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Bypass / override management for the safety function</a:t>
            </a:r>
          </a:p>
        </p:txBody>
      </p:sp>
      <p:sp>
        <p:nvSpPr>
          <p:cNvPr id="10" name="Shape 8"/>
          <p:cNvSpPr/>
          <p:nvPr/>
        </p:nvSpPr>
        <p:spPr>
          <a:xfrm>
            <a:off x="457200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Unauthenticated BACnet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Communication integrity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Authorization enforcement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3.1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Communication integrity</a:t>
            </a:r>
          </a:p>
        </p:txBody>
      </p:sp>
      <p:sp>
        <p:nvSpPr>
          <p:cNvPr id="12" name="Shape 10"/>
          <p:cNvSpPr/>
          <p:nvPr/>
        </p:nvSpPr>
        <p:spPr>
          <a:xfrm>
            <a:off x="6245352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82512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5.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Flat IT/BMS network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</a:t>
            </a:r>
          </a:p>
        </p:txBody>
      </p:sp>
      <p:sp>
        <p:nvSpPr>
          <p:cNvPr id="14" name="Shape 12"/>
          <p:cNvSpPr/>
          <p:nvPr/>
        </p:nvSpPr>
        <p:spPr>
          <a:xfrm>
            <a:off x="6245352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82512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6.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Medical-gas alarm bypassed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#7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Validate and alert for paired inputs / outputs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Continuous monitoring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84.09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Operation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Bypass / override management for the safety function</a:t>
            </a:r>
          </a:p>
        </p:txBody>
      </p:sp>
      <p:sp>
        <p:nvSpPr>
          <p:cNvPr id="16" name="Shape 14"/>
          <p:cNvSpPr/>
          <p:nvPr/>
        </p:nvSpPr>
        <p:spPr>
          <a:xfrm>
            <a:off x="6245352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82512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7.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Integrator laptop on BMS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control for portable and mobile devices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2.13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of physical diagnostic and test interfaces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Malicious code protection</a:t>
            </a:r>
          </a:p>
        </p:txBody>
      </p:sp>
      <p:sp>
        <p:nvSpPr>
          <p:cNvPr id="18" name="Shape 16"/>
          <p:cNvSpPr/>
          <p:nvPr/>
        </p:nvSpPr>
        <p:spPr>
          <a:xfrm>
            <a:off x="6245352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82512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Tested ATS on isolated LAN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Good practice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7.5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Emergency power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84048"/>
            <a:ext cx="1956816" cy="365760"/>
          </a:xfrm>
          <a:prstGeom prst="roundRect">
            <a:avLst>
              <a:gd name="adj" fmla="val 50000"/>
            </a:avLst>
          </a:prstGeom>
          <a:solidFill>
            <a:srgbClr val="C0397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20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Healthcare — ER Medical Device Systems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department — patient monitors, infusion pumps, device gateways, biomed VLAN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45720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1E8E5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good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336024" y="45720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E7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safety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129016" y="45720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cyber</a:t>
            </a:r>
            <a:endParaRPr lang="en-US" sz="1100" dirty="0"/>
          </a:p>
        </p:txBody>
      </p:sp>
      <p:pic>
        <p:nvPicPr>
          <p:cNvPr id="10" name="Image 0" descr="hospital_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6" y="1783080"/>
            <a:ext cx="8229600" cy="4937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979676" y="6446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practice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Numbered markers = planted findings. Answer key on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84048"/>
            <a:ext cx="1956816" cy="365760"/>
          </a:xfrm>
          <a:prstGeom prst="roundRect">
            <a:avLst>
              <a:gd name="adj" fmla="val 50000"/>
            </a:avLst>
          </a:prstGeom>
          <a:solidFill>
            <a:srgbClr val="C0397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Healthcare — ER Medical Device Systems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what to look for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1.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Default monitor login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Authenticator management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Human user identification and authentication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1.1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Human user identification and authentication</a:t>
            </a:r>
          </a:p>
        </p:txBody>
      </p:sp>
      <p:sp>
        <p:nvSpPr>
          <p:cNvPr id="6" name="Shape 4"/>
          <p:cNvSpPr/>
          <p:nvPr/>
        </p:nvSpPr>
        <p:spPr>
          <a:xfrm>
            <a:off x="457200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2.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Exposed pump service port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2.13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of physical diagnostic and test interfaces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EDR 3.11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Physical tamper resistance and detection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Malicious code protection</a:t>
            </a:r>
          </a:p>
        </p:txBody>
      </p:sp>
      <p:sp>
        <p:nvSpPr>
          <p:cNvPr id="8" name="Shape 6"/>
          <p:cNvSpPr/>
          <p:nvPr/>
        </p:nvSpPr>
        <p:spPr>
          <a:xfrm>
            <a:off x="457200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Unsigned device firmware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EDR 3.10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Support for updates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EDR 3.14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Integrity of the boot process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3.4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Software and information integrity</a:t>
            </a:r>
          </a:p>
        </p:txBody>
      </p:sp>
      <p:sp>
        <p:nvSpPr>
          <p:cNvPr id="10" name="Shape 8"/>
          <p:cNvSpPr/>
          <p:nvPr/>
        </p:nvSpPr>
        <p:spPr>
          <a:xfrm>
            <a:off x="457200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Flat biomed/guest VLAN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NDR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</a:t>
            </a:r>
          </a:p>
        </p:txBody>
      </p:sp>
      <p:sp>
        <p:nvSpPr>
          <p:cNvPr id="12" name="Shape 10"/>
          <p:cNvSpPr/>
          <p:nvPr/>
        </p:nvSpPr>
        <p:spPr>
          <a:xfrm>
            <a:off x="6245352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82512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5.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Device alarms paused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#20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Trap false negatives and false positives for critical alerts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Continuous monitoring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84.09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Operation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Bypass / override management for the safety function</a:t>
            </a:r>
          </a:p>
        </p:txBody>
      </p:sp>
      <p:sp>
        <p:nvSpPr>
          <p:cNvPr id="14" name="Shape 12"/>
          <p:cNvSpPr/>
          <p:nvPr/>
        </p:nvSpPr>
        <p:spPr>
          <a:xfrm>
            <a:off x="6245352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82512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6.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Unencrypted device data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Communication integrity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4.3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of cryptography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4.1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Information confidentiality</a:t>
            </a:r>
          </a:p>
        </p:txBody>
      </p:sp>
      <p:sp>
        <p:nvSpPr>
          <p:cNvPr id="16" name="Shape 14"/>
          <p:cNvSpPr/>
          <p:nvPr/>
        </p:nvSpPr>
        <p:spPr>
          <a:xfrm>
            <a:off x="6245352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82512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7.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Unsupported legacy OS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HDR 3.10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Support for updates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7.8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Control system component inventory</a:t>
            </a:r>
          </a:p>
        </p:txBody>
      </p:sp>
      <p:sp>
        <p:nvSpPr>
          <p:cNvPr id="18" name="Shape 16"/>
          <p:cNvSpPr/>
          <p:nvPr/>
        </p:nvSpPr>
        <p:spPr>
          <a:xfrm>
            <a:off x="6245352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82512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Segmented, inventoried devices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Good practice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7.8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Control system component inventory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84048"/>
            <a:ext cx="1956816" cy="365760"/>
          </a:xfrm>
          <a:prstGeom prst="roundRect">
            <a:avLst>
              <a:gd name="adj" fmla="val 50000"/>
            </a:avLst>
          </a:prstGeom>
          <a:solidFill>
            <a:srgbClr val="6A4C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20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Aviation — Airfield Lighting Control System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ALCMS — constant-current regulators, series lighting circuits, runway/taxiway control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45720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1E8E5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good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336024" y="45720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E7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safety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129016" y="45720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cyber</a:t>
            </a:r>
            <a:endParaRPr lang="en-US" sz="1100" dirty="0"/>
          </a:p>
        </p:txBody>
      </p:sp>
      <p:pic>
        <p:nvPicPr>
          <p:cNvPr id="10" name="Image 0" descr="airfield_ligh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6" y="1783080"/>
            <a:ext cx="8229600" cy="4937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979676" y="6446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practice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Numbered markers = planted findings. Answer key on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84048"/>
            <a:ext cx="1956816" cy="365760"/>
          </a:xfrm>
          <a:prstGeom prst="roundRect">
            <a:avLst>
              <a:gd name="adj" fmla="val 50000"/>
            </a:avLst>
          </a:prstGeom>
          <a:solidFill>
            <a:srgbClr val="6A4C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Aviation — Airfield Lighting Control System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what to look for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1.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Shared ALCMS login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Human user identification and authentication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Authenticator management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Authorization enforcement</a:t>
            </a:r>
          </a:p>
        </p:txBody>
      </p:sp>
      <p:sp>
        <p:nvSpPr>
          <p:cNvPr id="6" name="Shape 4"/>
          <p:cNvSpPr/>
          <p:nvPr/>
        </p:nvSpPr>
        <p:spPr>
          <a:xfrm>
            <a:off x="457200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2.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Always-on remote support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Access via untrusted networks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2.6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Remote session termination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Continuous monitoring</a:t>
            </a:r>
          </a:p>
        </p:txBody>
      </p:sp>
      <p:sp>
        <p:nvSpPr>
          <p:cNvPr id="8" name="Shape 6"/>
          <p:cNvSpPr/>
          <p:nvPr/>
        </p:nvSpPr>
        <p:spPr>
          <a:xfrm>
            <a:off x="457200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Stop-bar override on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Track operating modes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84.09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Operation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Bypass / override management for the safety function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#15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Define a safe process state in case of a PLC restart</a:t>
            </a:r>
          </a:p>
        </p:txBody>
      </p:sp>
      <p:sp>
        <p:nvSpPr>
          <p:cNvPr id="10" name="Shape 8"/>
          <p:cNvSpPr/>
          <p:nvPr/>
        </p:nvSpPr>
        <p:spPr>
          <a:xfrm>
            <a:off x="457200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Flat airfield/IT network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</a:t>
            </a:r>
          </a:p>
        </p:txBody>
      </p:sp>
      <p:sp>
        <p:nvSpPr>
          <p:cNvPr id="12" name="Shape 10"/>
          <p:cNvSpPr/>
          <p:nvPr/>
        </p:nvSpPr>
        <p:spPr>
          <a:xfrm>
            <a:off x="6245352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82512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5.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Laptop on open CCR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2.13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of physical diagnostic and test interfaces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control for portable and mobile devices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EDR 3.11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Physical tamper resistance and detection</a:t>
            </a:r>
          </a:p>
        </p:txBody>
      </p:sp>
      <p:sp>
        <p:nvSpPr>
          <p:cNvPr id="14" name="Shape 12"/>
          <p:cNvSpPr/>
          <p:nvPr/>
        </p:nvSpPr>
        <p:spPr>
          <a:xfrm>
            <a:off x="6245352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82512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6.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Circuit-fault alarm off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#20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Trap false negatives and false positives for critical alerts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Continuous monitoring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#7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Validate and alert for paired inputs / outputs</a:t>
            </a:r>
          </a:p>
        </p:txBody>
      </p:sp>
      <p:sp>
        <p:nvSpPr>
          <p:cNvPr id="16" name="Shape 14"/>
          <p:cNvSpPr/>
          <p:nvPr/>
        </p:nvSpPr>
        <p:spPr>
          <a:xfrm>
            <a:off x="6245352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82512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7.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Unauthenticated commands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Communication integrity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Authorization enforcement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3.1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Communication integrity</a:t>
            </a:r>
          </a:p>
        </p:txBody>
      </p:sp>
      <p:sp>
        <p:nvSpPr>
          <p:cNvPr id="18" name="Shape 16"/>
          <p:cNvSpPr/>
          <p:nvPr/>
        </p:nvSpPr>
        <p:spPr>
          <a:xfrm>
            <a:off x="6245352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82512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Segmented, monitored vault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Good practice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Continuous monitoring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84048"/>
            <a:ext cx="1956816" cy="365760"/>
          </a:xfrm>
          <a:prstGeom prst="roundRect">
            <a:avLst>
              <a:gd name="adj" fmla="val 50000"/>
            </a:avLst>
          </a:prstGeom>
          <a:solidFill>
            <a:srgbClr val="6A4C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20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Aviation — Baggage Handling Control System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BHS — Siemens/Rockwell PLCs, Vanderlande/BEUMER sortation, EDS screening interface, conveyors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45720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1E8E5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good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336024" y="45720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E7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safety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129016" y="45720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cyber</a:t>
            </a:r>
            <a:endParaRPr lang="en-US" sz="1100" dirty="0"/>
          </a:p>
        </p:txBody>
      </p:sp>
      <p:pic>
        <p:nvPicPr>
          <p:cNvPr id="10" name="Image 0" descr="baggage_hand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6" y="1783080"/>
            <a:ext cx="8229600" cy="4937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979676" y="6446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practice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Numbered markers = planted findings. Answer key on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84048"/>
            <a:ext cx="1956816" cy="365760"/>
          </a:xfrm>
          <a:prstGeom prst="roundRect">
            <a:avLst>
              <a:gd name="adj" fmla="val 50000"/>
            </a:avLst>
          </a:prstGeom>
          <a:solidFill>
            <a:srgbClr val="6A4C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Aviation — Baggage Handling Control System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what to look for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1.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Shared BHS HMI login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Human user identification and authentication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Authenticator management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1.1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Human user identification and authentication</a:t>
            </a:r>
          </a:p>
        </p:txBody>
      </p:sp>
      <p:sp>
        <p:nvSpPr>
          <p:cNvPr id="6" name="Shape 4"/>
          <p:cNvSpPr/>
          <p:nvPr/>
        </p:nvSpPr>
        <p:spPr>
          <a:xfrm>
            <a:off x="457200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2.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EDS interlock bypassed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Authorization enforcement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84.09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Operation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Bypass / override management for the safety function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Track operating modes</a:t>
            </a:r>
          </a:p>
        </p:txBody>
      </p:sp>
      <p:sp>
        <p:nvSpPr>
          <p:cNvPr id="8" name="Shape 6"/>
          <p:cNvSpPr/>
          <p:nvPr/>
        </p:nvSpPr>
        <p:spPr>
          <a:xfrm>
            <a:off x="457200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laptop + USB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2.13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of physical diagnostic and test interfaces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control for portable and mobile devices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Malicious code protection</a:t>
            </a:r>
          </a:p>
        </p:txBody>
      </p:sp>
      <p:sp>
        <p:nvSpPr>
          <p:cNvPr id="10" name="Shape 8"/>
          <p:cNvSpPr/>
          <p:nvPr/>
        </p:nvSpPr>
        <p:spPr>
          <a:xfrm>
            <a:off x="457200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Flat BHS/IT network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</a:t>
            </a:r>
          </a:p>
        </p:txBody>
      </p:sp>
      <p:sp>
        <p:nvSpPr>
          <p:cNvPr id="12" name="Shape 10"/>
          <p:cNvSpPr/>
          <p:nvPr/>
        </p:nvSpPr>
        <p:spPr>
          <a:xfrm>
            <a:off x="6245352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82512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5.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Always-on OEM remote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Access via untrusted networks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2.6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Remote session termination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Continuous monitoring</a:t>
            </a:r>
          </a:p>
        </p:txBody>
      </p:sp>
      <p:sp>
        <p:nvSpPr>
          <p:cNvPr id="14" name="Shape 12"/>
          <p:cNvSpPr/>
          <p:nvPr/>
        </p:nvSpPr>
        <p:spPr>
          <a:xfrm>
            <a:off x="6245352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82512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6.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Conveyor e-stop disabled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#7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Validate and alert for paired inputs / outputs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84.09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Operation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Bypass / override management for the safety function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#15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Define a safe process state in case of a PLC restart</a:t>
            </a:r>
          </a:p>
        </p:txBody>
      </p:sp>
      <p:sp>
        <p:nvSpPr>
          <p:cNvPr id="16" name="Shape 14"/>
          <p:cNvSpPr/>
          <p:nvPr/>
        </p:nvSpPr>
        <p:spPr>
          <a:xfrm>
            <a:off x="6245352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82512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7.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Unsigned PLC logic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cryptographic and/or checksum integrity checks for PLC code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3.4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Software and information integrity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2.8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Auditable events</a:t>
            </a:r>
          </a:p>
        </p:txBody>
      </p:sp>
      <p:sp>
        <p:nvSpPr>
          <p:cNvPr id="18" name="Shape 16"/>
          <p:cNvSpPr/>
          <p:nvPr/>
        </p:nvSpPr>
        <p:spPr>
          <a:xfrm>
            <a:off x="6245352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82512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Screening handshake enforced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Good practice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#7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Validate and alert for paired inputs / outputs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Authorization enforcement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84048"/>
            <a:ext cx="1956816" cy="36576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RETAIL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20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Retail — Grocery Refrigeration &amp; Cooling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Supermarket refrigeration — Copeland/Danfoss rack controllers, Carel case controls, defrost, remote monitoring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45720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1E8E5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good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336024" y="45720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E7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safety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129016" y="45720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cyber</a:t>
            </a:r>
            <a:endParaRPr lang="en-US" sz="1100" dirty="0"/>
          </a:p>
        </p:txBody>
      </p:sp>
      <p:pic>
        <p:nvPicPr>
          <p:cNvPr id="10" name="Image 0" descr="grocery_refrig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6" y="1783080"/>
            <a:ext cx="8229600" cy="4937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979676" y="6446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practice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Numbered markers = planted findings. Answer key on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84048"/>
            <a:ext cx="1956816" cy="36576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RETAIL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Retail — Grocery Refrigeration &amp; Cooling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what to look for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1.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Internet-exposed controller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Access via untrusted networks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NDR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</a:t>
            </a:r>
          </a:p>
        </p:txBody>
      </p:sp>
      <p:sp>
        <p:nvSpPr>
          <p:cNvPr id="6" name="Shape 4"/>
          <p:cNvSpPr/>
          <p:nvPr/>
        </p:nvSpPr>
        <p:spPr>
          <a:xfrm>
            <a:off x="457200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2.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Default controller login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Authenticator management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1.7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Strength of password-based authentication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1.1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Human user identification and authentication</a:t>
            </a:r>
          </a:p>
        </p:txBody>
      </p:sp>
      <p:sp>
        <p:nvSpPr>
          <p:cNvPr id="8" name="Shape 6"/>
          <p:cNvSpPr/>
          <p:nvPr/>
        </p:nvSpPr>
        <p:spPr>
          <a:xfrm>
            <a:off x="457200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Forced defrost abuse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Track operating modes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#12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Validate inputs based on physical plausibility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Input validation</a:t>
            </a:r>
          </a:p>
        </p:txBody>
      </p:sp>
      <p:sp>
        <p:nvSpPr>
          <p:cNvPr id="10" name="Shape 8"/>
          <p:cNvSpPr/>
          <p:nvPr/>
        </p:nvSpPr>
        <p:spPr>
          <a:xfrm>
            <a:off x="457200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Always-on remote access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Access via untrusted networks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2.6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Remote session termination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Continuous monitoring</a:t>
            </a:r>
          </a:p>
        </p:txBody>
      </p:sp>
      <p:sp>
        <p:nvSpPr>
          <p:cNvPr id="12" name="Shape 10"/>
          <p:cNvSpPr/>
          <p:nvPr/>
        </p:nvSpPr>
        <p:spPr>
          <a:xfrm>
            <a:off x="6245352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82512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5.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High-temp alarm muted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#20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Trap false negatives and false positives for critical alerts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Continuous monitoring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#11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Instrument for plausibility checks</a:t>
            </a:r>
          </a:p>
        </p:txBody>
      </p:sp>
      <p:sp>
        <p:nvSpPr>
          <p:cNvPr id="14" name="Shape 12"/>
          <p:cNvSpPr/>
          <p:nvPr/>
        </p:nvSpPr>
        <p:spPr>
          <a:xfrm>
            <a:off x="6245352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82512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6.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Unsupported firmware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EDR 3.10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Support for updates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3.4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Software and information integrity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7.8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Control system component inventory</a:t>
            </a:r>
          </a:p>
        </p:txBody>
      </p:sp>
      <p:sp>
        <p:nvSpPr>
          <p:cNvPr id="16" name="Shape 14"/>
          <p:cNvSpPr/>
          <p:nvPr/>
        </p:nvSpPr>
        <p:spPr>
          <a:xfrm>
            <a:off x="6245352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82512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7.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Laptop on controller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2.13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of physical diagnostic and test interfaces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control for portable and mobile devices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Malicious code protection</a:t>
            </a:r>
          </a:p>
        </p:txBody>
      </p:sp>
      <p:sp>
        <p:nvSpPr>
          <p:cNvPr id="18" name="Shape 16"/>
          <p:cNvSpPr/>
          <p:nvPr/>
        </p:nvSpPr>
        <p:spPr>
          <a:xfrm>
            <a:off x="6245352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82512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Setpoint limits + alarming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Good practice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#12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Validate inputs based on physical plausibility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Continuous monitoring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84048"/>
            <a:ext cx="1956816" cy="36576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RETAIL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20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Retail — Grocery Logistics &amp; Facilities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center — Frick ammonia controls, Intelligrated/Dematic sortation, docks, BAS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45720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1E8E5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good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336024" y="45720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E7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safety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129016" y="45720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cyber</a:t>
            </a:r>
            <a:endParaRPr lang="en-US" sz="1100" dirty="0"/>
          </a:p>
        </p:txBody>
      </p:sp>
      <p:pic>
        <p:nvPicPr>
          <p:cNvPr id="10" name="Image 0" descr="grocery_logi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6" y="1783080"/>
            <a:ext cx="8229600" cy="4937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979676" y="6446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 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practice</a:t>
            </a:r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Numbered markers = planted findings. Answer key on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84048"/>
            <a:ext cx="1956816" cy="36576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RETAIL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Retail — Grocery Logistics &amp; Facilities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what to look for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1.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Ammonia leak alarm off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#20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Trap false negatives and false positives for critical alerts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Continuous monitoring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84.09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Operation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Bypass / override management for the safety function</a:t>
            </a:r>
          </a:p>
        </p:txBody>
      </p:sp>
      <p:sp>
        <p:nvSpPr>
          <p:cNvPr id="6" name="Shape 4"/>
          <p:cNvSpPr/>
          <p:nvPr/>
        </p:nvSpPr>
        <p:spPr>
          <a:xfrm>
            <a:off x="457200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2.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Default controls login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Authenticator management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1.7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Strength of password-based authentication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Human user identification and authentication</a:t>
            </a:r>
          </a:p>
        </p:txBody>
      </p:sp>
      <p:sp>
        <p:nvSpPr>
          <p:cNvPr id="8" name="Shape 6"/>
          <p:cNvSpPr/>
          <p:nvPr/>
        </p:nvSpPr>
        <p:spPr>
          <a:xfrm>
            <a:off x="457200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Internet-exposed BAS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1.13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Access via untrusted networks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NDR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</a:t>
            </a:r>
          </a:p>
        </p:txBody>
      </p:sp>
      <p:sp>
        <p:nvSpPr>
          <p:cNvPr id="10" name="Shape 8"/>
          <p:cNvSpPr/>
          <p:nvPr/>
        </p:nvSpPr>
        <p:spPr>
          <a:xfrm>
            <a:off x="457200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Flat controls/IT network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5.2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Zone boundary protection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5.1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Network segmentation</a:t>
            </a:r>
          </a:p>
        </p:txBody>
      </p:sp>
      <p:sp>
        <p:nvSpPr>
          <p:cNvPr id="12" name="Shape 10"/>
          <p:cNvSpPr/>
          <p:nvPr/>
        </p:nvSpPr>
        <p:spPr>
          <a:xfrm>
            <a:off x="6245352" y="1316736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82512" y="1399032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5.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Laptop + USB on PLC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4-2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CR 2.13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of physical diagnostic and test interfaces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2.3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Use control for portable and mobile devices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3.2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Malicious code protection</a:t>
            </a:r>
          </a:p>
        </p:txBody>
      </p:sp>
      <p:sp>
        <p:nvSpPr>
          <p:cNvPr id="14" name="Shape 12"/>
          <p:cNvSpPr/>
          <p:nvPr/>
        </p:nvSpPr>
        <p:spPr>
          <a:xfrm>
            <a:off x="6245352" y="2708910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82512" y="2791206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6.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Dock e-stop bypassed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Safety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#7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Validate and alert for paired inputs / outputs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84.09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Operation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Bypass / override management for the safety function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#15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Define a safe process state in case of a PLC restart</a:t>
            </a:r>
          </a:p>
        </p:txBody>
      </p:sp>
      <p:sp>
        <p:nvSpPr>
          <p:cNvPr id="16" name="Shape 14"/>
          <p:cNvSpPr/>
          <p:nvPr/>
        </p:nvSpPr>
        <p:spPr>
          <a:xfrm>
            <a:off x="6245352" y="4101084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82512" y="4183380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7.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No controls monitoring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Cyber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6.2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Continuous monitoring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2.8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Auditable events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3-3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SR 7.8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Control system component inventory</a:t>
            </a:r>
          </a:p>
        </p:txBody>
      </p:sp>
      <p:sp>
        <p:nvSpPr>
          <p:cNvPr id="18" name="Shape 16"/>
          <p:cNvSpPr/>
          <p:nvPr/>
        </p:nvSpPr>
        <p:spPr>
          <a:xfrm>
            <a:off x="6245352" y="5493258"/>
            <a:ext cx="5486400" cy="1273302"/>
          </a:xfrm>
          <a:prstGeom prst="roundRect">
            <a:avLst>
              <a:gd name="adj" fmla="val 4309"/>
            </a:avLst>
          </a:prstGeom>
          <a:solidFill>
            <a:srgbClr val="F1F5F8"/>
          </a:solidFill>
          <a:ln w="9525">
            <a:solidFill>
              <a:srgbClr val="D7DEE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82512" y="5575554"/>
            <a:ext cx="521208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8.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Independent NH3 safety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   Good practice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PLC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#15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Define a safe process state in case of a PLC restart
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84.09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Realization  </a:t>
            </a:r>
            <a:pPr indent="0" marL="0">
              <a:lnSpc>
                <a:spcPct val="102000"/>
              </a:lnSpc>
              <a:buNone/>
            </a:pPr>
            <a:r>
              <a:rPr lang="en-US" dirty="0">
                <a:solidFill>
                  <a:srgbClr val="000000"/>
                </a:solidFill>
              </a:rPr>
              <a:t>SIS zones and conduits (SIS as a separate zone)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2026-10-17T23:57:54Z</dcterms:created>
  <dcterms:modified xsi:type="dcterms:W3CDTF">2026-10-17T23:57:54Z</dcterms:modified>
</cp:coreProperties>
</file>